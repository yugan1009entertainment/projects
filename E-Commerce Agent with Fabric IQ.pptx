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83584" r:id="rId2"/>
    <p:sldId id="296" r:id="rId3"/>
    <p:sldId id="269" r:id="rId4"/>
    <p:sldId id="260" r:id="rId5"/>
    <p:sldId id="258" r:id="rId6"/>
    <p:sldId id="2147483585" r:id="rId7"/>
    <p:sldId id="2147483587" r:id="rId8"/>
    <p:sldId id="2147483591" r:id="rId9"/>
    <p:sldId id="2147483590" r:id="rId10"/>
    <p:sldId id="2147483588" r:id="rId11"/>
    <p:sldId id="21474835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6A0174-EED8-8FEB-E2D8-57F074835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3083" y="3528118"/>
            <a:ext cx="5771745" cy="499133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764CB87-415E-C0A6-6CC1-D74B5A15E707}"/>
              </a:ext>
            </a:extLst>
          </p:cNvPr>
          <p:cNvSpPr/>
          <p:nvPr userDrawn="1"/>
        </p:nvSpPr>
        <p:spPr>
          <a:xfrm>
            <a:off x="5106476" y="1128410"/>
            <a:ext cx="7085524" cy="2159540"/>
          </a:xfrm>
          <a:custGeom>
            <a:avLst/>
            <a:gdLst>
              <a:gd name="connsiteX0" fmla="*/ 497119 w 7085524"/>
              <a:gd name="connsiteY0" fmla="*/ 0 h 2159540"/>
              <a:gd name="connsiteX1" fmla="*/ 7085524 w 7085524"/>
              <a:gd name="connsiteY1" fmla="*/ 0 h 2159540"/>
              <a:gd name="connsiteX2" fmla="*/ 7085524 w 7085524"/>
              <a:gd name="connsiteY2" fmla="*/ 2159540 h 2159540"/>
              <a:gd name="connsiteX3" fmla="*/ 0 w 7085524"/>
              <a:gd name="connsiteY3" fmla="*/ 2159540 h 2159540"/>
              <a:gd name="connsiteX4" fmla="*/ 497119 w 7085524"/>
              <a:gd name="connsiteY4" fmla="*/ 0 h 215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5524" h="2159540">
                <a:moveTo>
                  <a:pt x="497119" y="0"/>
                </a:moveTo>
                <a:lnTo>
                  <a:pt x="7085524" y="0"/>
                </a:lnTo>
                <a:lnTo>
                  <a:pt x="7085524" y="2159540"/>
                </a:lnTo>
                <a:lnTo>
                  <a:pt x="0" y="2159540"/>
                </a:lnTo>
                <a:lnTo>
                  <a:pt x="497119" y="0"/>
                </a:lnTo>
                <a:close/>
              </a:path>
            </a:pathLst>
          </a:custGeom>
          <a:solidFill>
            <a:srgbClr val="D5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pic>
        <p:nvPicPr>
          <p:cNvPr id="8" name="Picture 7" descr="A group of people looking at papers on a table&#10;&#10;Description automatically generated">
            <a:extLst>
              <a:ext uri="{FF2B5EF4-FFF2-40B4-BE49-F238E27FC236}">
                <a16:creationId xmlns:a16="http://schemas.microsoft.com/office/drawing/2014/main" id="{80952ED9-3A14-14DB-E9F6-171365B67B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01" r="17549"/>
          <a:stretch/>
        </p:blipFill>
        <p:spPr>
          <a:xfrm>
            <a:off x="-762000" y="0"/>
            <a:ext cx="6858000" cy="6858000"/>
          </a:xfrm>
          <a:custGeom>
            <a:avLst/>
            <a:gdLst>
              <a:gd name="connsiteX0" fmla="*/ 5107 w 6858000"/>
              <a:gd name="connsiteY0" fmla="*/ 0 h 6858000"/>
              <a:gd name="connsiteX1" fmla="*/ 6858000 w 6858000"/>
              <a:gd name="connsiteY1" fmla="*/ 0 h 6858000"/>
              <a:gd name="connsiteX2" fmla="*/ 5143500 w 6858000"/>
              <a:gd name="connsiteY2" fmla="*/ 6858000 h 6858000"/>
              <a:gd name="connsiteX3" fmla="*/ 0 w 6858000"/>
              <a:gd name="connsiteY3" fmla="*/ 6858000 h 6858000"/>
              <a:gd name="connsiteX4" fmla="*/ 0 w 6858000"/>
              <a:gd name="connsiteY4" fmla="*/ 204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6858000">
                <a:moveTo>
                  <a:pt x="5107" y="0"/>
                </a:moveTo>
                <a:lnTo>
                  <a:pt x="6858000" y="0"/>
                </a:lnTo>
                <a:lnTo>
                  <a:pt x="5143500" y="6858000"/>
                </a:lnTo>
                <a:lnTo>
                  <a:pt x="0" y="6858000"/>
                </a:lnTo>
                <a:lnTo>
                  <a:pt x="0" y="2042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175C4E-3003-512C-B19C-A323EEC9C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3083" y="1368578"/>
            <a:ext cx="5771745" cy="1679204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C79CD7-894A-E384-1DA0-7DE31A4F60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466" t="19143" r="6466" b="19143"/>
          <a:stretch/>
        </p:blipFill>
        <p:spPr>
          <a:xfrm>
            <a:off x="8199179" y="6045200"/>
            <a:ext cx="3415649" cy="59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98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4275D0-1C9B-B5D4-978A-07EF26C4543C}"/>
              </a:ext>
            </a:extLst>
          </p:cNvPr>
          <p:cNvCxnSpPr>
            <a:cxnSpLocks/>
          </p:cNvCxnSpPr>
          <p:nvPr userDrawn="1"/>
        </p:nvCxnSpPr>
        <p:spPr>
          <a:xfrm>
            <a:off x="514928" y="168479"/>
            <a:ext cx="0" cy="8571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1D005A9-B28D-BF6E-0BC7-5E4D9A3951B9}"/>
              </a:ext>
            </a:extLst>
          </p:cNvPr>
          <p:cNvSpPr txBox="1"/>
          <p:nvPr userDrawn="1"/>
        </p:nvSpPr>
        <p:spPr>
          <a:xfrm>
            <a:off x="0" y="1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pc="300">
                <a:solidFill>
                  <a:schemeClr val="bg1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Business-Led Technology Partners Delivering Real Digital Outcomes </a:t>
            </a:r>
          </a:p>
        </p:txBody>
      </p:sp>
      <p:pic>
        <p:nvPicPr>
          <p:cNvPr id="2" name="Picture 1" descr="A large body of water with a city in the background&#10;&#10;Description automatically generated">
            <a:extLst>
              <a:ext uri="{FF2B5EF4-FFF2-40B4-BE49-F238E27FC236}">
                <a16:creationId xmlns:a16="http://schemas.microsoft.com/office/drawing/2014/main" id="{83509518-1E18-58BF-B422-3625A9F22A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5"/>
            <a:ext cx="12192000" cy="6359525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E4C734-D431-C55D-098A-F9626C868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447F43-7ECF-415F-F634-DA533FD5B8EA}"/>
              </a:ext>
            </a:extLst>
          </p:cNvPr>
          <p:cNvSpPr/>
          <p:nvPr userDrawn="1"/>
        </p:nvSpPr>
        <p:spPr>
          <a:xfrm>
            <a:off x="0" y="6255304"/>
            <a:ext cx="12192000" cy="623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52000" rtlCol="0" anchor="ctr"/>
          <a:lstStyle/>
          <a:p>
            <a:pPr lvl="6" algn="r"/>
            <a:r>
              <a:rPr lang="en-US" sz="1100" b="1">
                <a:solidFill>
                  <a:schemeClr val="bg1"/>
                </a:solidFill>
                <a:latin typeface="+mj-lt"/>
                <a:ea typeface="Helvetica Neue Light" panose="02000403000000020004" pitchFamily="2" charset="0"/>
                <a:cs typeface="Helvetica Neue Condensed" panose="02000503000000020004" pitchFamily="2" charset="0"/>
              </a:rPr>
              <a:t>    </a:t>
            </a:r>
            <a:r>
              <a:rPr lang="en-US" sz="1100" b="1">
                <a:solidFill>
                  <a:schemeClr val="bg1"/>
                </a:solidFill>
                <a:latin typeface="+mj-lt"/>
                <a:ea typeface="Segoe UI Historic" panose="020B0502040204020203" pitchFamily="34" charset="0"/>
                <a:cs typeface="Segoe UI Historic" panose="020B0502040204020203" pitchFamily="34" charset="0"/>
              </a:rPr>
              <a:t>SEATTLE | LOS ANGELES | HOUSTON | CHICAGO | ATLANTA | NEW JERSEY  | INDIA | DUBAI  | MALAYSIA | LONDON | ONTARIO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CD2CA-BBC7-B3C7-D9F2-2ED470AE869F}"/>
              </a:ext>
            </a:extLst>
          </p:cNvPr>
          <p:cNvSpPr txBox="1"/>
          <p:nvPr userDrawn="1"/>
        </p:nvSpPr>
        <p:spPr>
          <a:xfrm>
            <a:off x="4082139" y="5806237"/>
            <a:ext cx="782815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2000">
                <a:solidFill>
                  <a:schemeClr val="bg1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Business-Led Technology Partners Delivering Real Digital Outcomes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C648C5-E49C-A0DC-2C07-239A8AC47514}"/>
              </a:ext>
            </a:extLst>
          </p:cNvPr>
          <p:cNvSpPr/>
          <p:nvPr userDrawn="1"/>
        </p:nvSpPr>
        <p:spPr>
          <a:xfrm>
            <a:off x="-1" y="1345984"/>
            <a:ext cx="10493827" cy="1411870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568D8A-4520-D710-0E33-7C418AD5B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79" y="1551467"/>
            <a:ext cx="9871107" cy="1000904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D88FA8-165C-E7F8-50FB-11FB0FB648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2806" y="6233500"/>
            <a:ext cx="2783598" cy="68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73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5612-F6CE-791C-B7D3-5171DFA8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DDBC-B557-201E-5F68-0DF854F58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BB0EC-2152-59EC-35D2-AA84B01B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21/04/2026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26D3F-08A3-2EEA-5C06-1F2D8D8FC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7AA3F-5219-4347-DD01-3BAE92A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3140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CB76E-C8C4-7EB7-25D5-707480E8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177BB-82D1-DC79-CA67-4FB698D33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0C56C-BB59-4801-650C-D620EEA01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21/04/2026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BC372-3509-C62C-477E-BFF62BCD5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0B89C-0071-601F-A083-89F1FB968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51525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5ECC-C07F-5B21-83D2-730C7634C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9D84D-7A16-16BD-0801-584528DDC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890FC-7FBA-5386-E6ED-349F833C4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333B4-BB93-D022-E2B2-780CE762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21/04/2026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027E7-BB23-0813-09F0-F509AB3B1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E4A4A-B8C9-589C-A8AC-0B5BECBE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2739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2949B-F216-9D2E-13CE-BF05E3DE9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2BC9C-AEE5-9B4A-7C53-1A8E37484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FCC9F-CCBF-777F-C9B9-4E6797EC6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491854-CE2C-DBA9-BB38-1EA77547C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D399AD-DF6B-6CDB-44B4-F043C614D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80D4DD-E93F-00DF-3DD8-713D16BB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21/04/2026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BE50A-503D-5530-36FD-320C31924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7A0C3C-1E26-9230-614C-E73F5496E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690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7FAE-9A90-8E8A-3E95-3E2D80A7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27" y="228940"/>
            <a:ext cx="11274147" cy="443198"/>
          </a:xfrm>
        </p:spPr>
        <p:txBody>
          <a:bodyPr lIns="0" tIns="0" rIns="0" bIns="0" anchor="t">
            <a:spAutoFit/>
          </a:bodyPr>
          <a:lstStyle>
            <a:lvl1pPr>
              <a:defRPr sz="3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E8EDA1-762E-55C6-50C7-EF85AC218BCA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FDB3-753B-9524-A1E2-4F6C389A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6ED4E-EFD9-C56B-35ED-CA02745905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3F17C1D-CCA4-D609-3557-1517317358F5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56290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568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7FAE-9A90-8E8A-3E95-3E2D80A7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23" y="228940"/>
            <a:ext cx="11274147" cy="387798"/>
          </a:xfrm>
        </p:spPr>
        <p:txBody>
          <a:bodyPr lIns="0" tIns="0" rIns="0" bIns="0" anchor="t">
            <a:spAutoFit/>
          </a:bodyPr>
          <a:lstStyle>
            <a:lvl1pPr>
              <a:defRPr sz="28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E8EDA1-762E-55C6-50C7-EF85AC218BCA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FDB3-753B-9524-A1E2-4F6C389A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6ED4E-EFD9-C56B-35ED-CA02745905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3F17C1D-CCA4-D609-3557-1517317358F5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A1A2D4B-76D6-A174-F605-785C7DD41B7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54123" y="730937"/>
            <a:ext cx="3932237" cy="249299"/>
          </a:xfrm>
        </p:spPr>
        <p:txBody>
          <a:bodyPr vert="horz" lIns="0" tIns="0" rIns="0" bIns="0" rtlCol="0" anchor="t">
            <a:spAutoFit/>
          </a:bodyPr>
          <a:lstStyle>
            <a:lvl1pPr>
              <a:defRPr lang="en-US" sz="1800" b="0" dirty="0"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19401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7FAE-9A90-8E8A-3E95-3E2D80A7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27" y="228940"/>
            <a:ext cx="11274147" cy="443198"/>
          </a:xfrm>
        </p:spPr>
        <p:txBody>
          <a:bodyPr lIns="0" tIns="0" rIns="0" bIns="0" anchor="t">
            <a:spAutoFit/>
          </a:bodyPr>
          <a:lstStyle>
            <a:lvl1pPr>
              <a:defRPr sz="3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E8EDA1-762E-55C6-50C7-EF85AC218BCA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FDB3-753B-9524-A1E2-4F6C389A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6ED4E-EFD9-C56B-35ED-CA02745905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95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ayout_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86CD4E-F7A8-4A34-5000-E031C270F61E}"/>
              </a:ext>
            </a:extLst>
          </p:cNvPr>
          <p:cNvSpPr/>
          <p:nvPr userDrawn="1"/>
        </p:nvSpPr>
        <p:spPr>
          <a:xfrm>
            <a:off x="6144000" y="-1"/>
            <a:ext cx="6048000" cy="68774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D7FAE-9A90-8E8A-3E95-3E2D80A7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27" y="228940"/>
            <a:ext cx="5292000" cy="387798"/>
          </a:xfrm>
        </p:spPr>
        <p:txBody>
          <a:bodyPr lIns="0" tIns="0" rIns="0" bIns="0" anchor="t">
            <a:spAutoFit/>
          </a:bodyPr>
          <a:lstStyle>
            <a:lvl1pPr>
              <a:defRPr sz="28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E8EDA1-762E-55C6-50C7-EF85AC218BCA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FDB3-753B-9524-A1E2-4F6C389A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6ED4E-EFD9-C56B-35ED-CA02745905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3F17C1D-CCA4-D609-3557-1517317358F5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01988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Layout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86CD4E-F7A8-4A34-5000-E031C270F61E}"/>
              </a:ext>
            </a:extLst>
          </p:cNvPr>
          <p:cNvSpPr/>
          <p:nvPr userDrawn="1"/>
        </p:nvSpPr>
        <p:spPr>
          <a:xfrm>
            <a:off x="8159750" y="-1"/>
            <a:ext cx="4032249" cy="68774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D7FAE-9A90-8E8A-3E95-3E2D80A7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26" y="228940"/>
            <a:ext cx="7175587" cy="443198"/>
          </a:xfrm>
        </p:spPr>
        <p:txBody>
          <a:bodyPr wrap="square" lIns="0" tIns="0" rIns="0" bIns="0" anchor="t">
            <a:spAutoFit/>
          </a:bodyPr>
          <a:lstStyle>
            <a:lvl1pPr>
              <a:defRPr sz="3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E8EDA1-762E-55C6-50C7-EF85AC218BCA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FDB3-753B-9524-A1E2-4F6C389A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6ED4E-EFD9-C56B-35ED-CA02745905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3F17C1D-CCA4-D609-3557-1517317358F5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26168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13167EB-B2F6-6FBD-F5EA-E5243DC1465B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307B455-930D-654F-E389-171E89D2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42D5E9-C7A3-B829-8D31-4BC452FA61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E260B51-C91F-18E3-AADE-90AD0365A450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3356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B83B51-A7FF-F34A-BAEB-AA3B47A5E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39798"/>
            <a:ext cx="10319658" cy="1661993"/>
          </a:xfrm>
        </p:spPr>
        <p:txBody>
          <a:bodyPr wrap="square" lIns="0" tIns="0" rIns="0" bIns="0" anchor="b">
            <a:spAutoFit/>
          </a:bodyPr>
          <a:lstStyle>
            <a:lvl1pPr>
              <a:defRPr sz="60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EDD13DF-F0D6-B64E-04CB-24416E9CE3C3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787A303-BFDC-B726-47A1-0C61AAC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5CDDF0-1D39-9F57-A347-A0F9234A72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07C62E-6565-1A98-FF11-2F408EE8261E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61292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623359-10D6-3152-656A-7F32730A30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869C34-12CC-7129-1179-C3C9B37EBD97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25447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9622D-5C24-FC67-244F-6AE42B836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05D7A-CBAF-A287-A29C-5D155132A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12480-234F-6F2B-C718-8B51A4738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B8DF7-81C9-9E41-327D-74620452F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21/04/2026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E3B9B-7642-1FCB-E16A-6F74FE963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15F24-86F7-0EAE-2F43-624658ED1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480533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61A3-841B-5BFF-387C-4BEC6D71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4B200-7186-509C-D63A-C081CDE62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787B4-E406-97E5-06AC-562087F7C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30ADF-47CB-68D7-2361-3CECBB32B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21/04/2026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13D41-080C-D67B-91B2-D9CC4304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20D41-79A2-F45F-23DB-8BD69005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736754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0221-30B1-366D-1254-95442D4F5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17A8A-5832-C2DC-85B1-C0E1B4E5C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CE863-0B7A-57C8-15FD-02E178C4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21/04/2026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C1DDF-C28C-DF13-09E2-D285E95F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B77A0-7370-E830-2447-E36F7A497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583354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C2209E-53FE-F84A-3586-340E61CA0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3A8F47-712C-271A-BB2A-B3EC318EA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30C36-804F-2F04-D89C-30FA56FF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21/04/2026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3C052-40FE-8526-EACD-98D74EF4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C7810-AD5D-DBDA-87E3-692DD865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086960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1D40186-11F3-B640-ED33-FF43D3AB9515}"/>
              </a:ext>
            </a:extLst>
          </p:cNvPr>
          <p:cNvGrpSpPr/>
          <p:nvPr userDrawn="1"/>
        </p:nvGrpSpPr>
        <p:grpSpPr>
          <a:xfrm>
            <a:off x="0" y="6347011"/>
            <a:ext cx="12192000" cy="510989"/>
            <a:chOff x="0" y="6347011"/>
            <a:chExt cx="12192000" cy="51098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1F40CFD-10EB-50C6-4976-82576A273B19}"/>
                </a:ext>
              </a:extLst>
            </p:cNvPr>
            <p:cNvSpPr/>
            <p:nvPr/>
          </p:nvSpPr>
          <p:spPr>
            <a:xfrm>
              <a:off x="0" y="6421821"/>
              <a:ext cx="12192000" cy="43617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5FA1A61-6899-07F6-02C6-101FE5EF9293}"/>
                </a:ext>
              </a:extLst>
            </p:cNvPr>
            <p:cNvSpPr/>
            <p:nvPr/>
          </p:nvSpPr>
          <p:spPr>
            <a:xfrm>
              <a:off x="451945" y="6347011"/>
              <a:ext cx="1723961" cy="510989"/>
            </a:xfrm>
            <a:prstGeom prst="rect">
              <a:avLst/>
            </a:prstGeom>
            <a:solidFill>
              <a:srgbClr val="D604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1F71B5C-14B4-8B76-7FA8-0A94B0B67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556" y="6406283"/>
              <a:ext cx="1626859" cy="409339"/>
            </a:xfrm>
            <a:prstGeom prst="rect">
              <a:avLst/>
            </a:prstGeom>
          </p:spPr>
        </p:pic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9EA582-3C07-3A32-0D16-C88247DB8668}"/>
              </a:ext>
            </a:extLst>
          </p:cNvPr>
          <p:cNvCxnSpPr>
            <a:cxnSpLocks/>
          </p:cNvCxnSpPr>
          <p:nvPr userDrawn="1"/>
        </p:nvCxnSpPr>
        <p:spPr>
          <a:xfrm>
            <a:off x="360983" y="110925"/>
            <a:ext cx="0" cy="69791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51FEE6-1C80-5EE7-6BA6-24D9894C3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45292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8058F9-2C0A-FF32-4EE2-5B9FECC7A01B}"/>
              </a:ext>
            </a:extLst>
          </p:cNvPr>
          <p:cNvCxnSpPr>
            <a:cxnSpLocks/>
          </p:cNvCxnSpPr>
          <p:nvPr userDrawn="1"/>
        </p:nvCxnSpPr>
        <p:spPr>
          <a:xfrm>
            <a:off x="256310" y="196188"/>
            <a:ext cx="0" cy="5150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2C56B17-7465-703C-01C7-C14FB5B603B8}"/>
              </a:ext>
            </a:extLst>
          </p:cNvPr>
          <p:cNvSpPr/>
          <p:nvPr userDrawn="1"/>
        </p:nvSpPr>
        <p:spPr>
          <a:xfrm>
            <a:off x="0" y="6547526"/>
            <a:ext cx="12192000" cy="3249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6"/>
            <a:endParaRPr lang="en-US" sz="1200" b="1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Condensed" panose="02000503000000020004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696C96-D54A-404A-E064-061ABE3B7596}"/>
              </a:ext>
            </a:extLst>
          </p:cNvPr>
          <p:cNvGrpSpPr/>
          <p:nvPr userDrawn="1"/>
        </p:nvGrpSpPr>
        <p:grpSpPr>
          <a:xfrm>
            <a:off x="410094" y="6415267"/>
            <a:ext cx="1485381" cy="457200"/>
            <a:chOff x="410094" y="6113608"/>
            <a:chExt cx="2344292" cy="74439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F6B42A-FDA6-A7EF-0D58-14285327B3F7}"/>
                </a:ext>
              </a:extLst>
            </p:cNvPr>
            <p:cNvSpPr/>
            <p:nvPr userDrawn="1"/>
          </p:nvSpPr>
          <p:spPr>
            <a:xfrm>
              <a:off x="437357" y="6113608"/>
              <a:ext cx="2289767" cy="744391"/>
            </a:xfrm>
            <a:prstGeom prst="rect">
              <a:avLst/>
            </a:prstGeom>
            <a:solidFill>
              <a:srgbClr val="DB0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79522F3-E998-29AA-9D4A-2A013F6013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10094" y="6199079"/>
              <a:ext cx="2344292" cy="580212"/>
            </a:xfrm>
            <a:prstGeom prst="rect">
              <a:avLst/>
            </a:prstGeom>
          </p:spPr>
        </p:pic>
      </p:grp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0DD51F5-5945-EB4B-321A-F0DD21E21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7146" y="6547526"/>
            <a:ext cx="2743200" cy="294016"/>
          </a:xfrm>
        </p:spPr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A833697-23CA-BEF0-E52D-3D82CB4C9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94" y="225093"/>
            <a:ext cx="10515600" cy="457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78990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D686EA-514F-4EDA-A144-F8EB800715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4388" y="1662113"/>
            <a:ext cx="9636125" cy="3076142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defRPr>
            </a:lvl1pPr>
            <a:lvl2pPr>
              <a:defRPr sz="140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defRPr>
            </a:lvl2pPr>
            <a:lvl3pPr>
              <a:defRPr sz="140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defRPr>
            </a:lvl3pPr>
            <a:lvl4pPr>
              <a:defRPr sz="140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defRPr>
            </a:lvl4pPr>
            <a:lvl5pPr>
              <a:defRPr sz="140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35701-85B7-40C9-889B-36F22DF2A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6362" y="46113"/>
            <a:ext cx="11876112" cy="4409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Title of the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ACADC-51F9-4B3B-9B18-5CA2D3DD1D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23000" y="6318250"/>
            <a:ext cx="5459413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Footer Details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A7E806-F4C5-442B-9185-B1F651A9EA1C}"/>
              </a:ext>
            </a:extLst>
          </p:cNvPr>
          <p:cNvCxnSpPr>
            <a:cxnSpLocks/>
          </p:cNvCxnSpPr>
          <p:nvPr/>
        </p:nvCxnSpPr>
        <p:spPr>
          <a:xfrm>
            <a:off x="94398" y="46113"/>
            <a:ext cx="0" cy="44099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6" descr="Taco Bell Logo – PNG e Vetor – Download de Logo">
            <a:extLst>
              <a:ext uri="{FF2B5EF4-FFF2-40B4-BE49-F238E27FC236}">
                <a16:creationId xmlns:a16="http://schemas.microsoft.com/office/drawing/2014/main" id="{7834F867-6E61-B9DD-5E16-618832F8A8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5637" y="113382"/>
            <a:ext cx="453859" cy="69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856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8058F9-2C0A-FF32-4EE2-5B9FECC7A01B}"/>
              </a:ext>
            </a:extLst>
          </p:cNvPr>
          <p:cNvCxnSpPr>
            <a:cxnSpLocks/>
          </p:cNvCxnSpPr>
          <p:nvPr userDrawn="1"/>
        </p:nvCxnSpPr>
        <p:spPr>
          <a:xfrm>
            <a:off x="514928" y="168479"/>
            <a:ext cx="0" cy="8571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2C56B17-7465-703C-01C7-C14FB5B603B8}"/>
              </a:ext>
            </a:extLst>
          </p:cNvPr>
          <p:cNvSpPr/>
          <p:nvPr userDrawn="1"/>
        </p:nvSpPr>
        <p:spPr>
          <a:xfrm>
            <a:off x="0" y="6547526"/>
            <a:ext cx="12192000" cy="3249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6"/>
            <a:endParaRPr lang="en-US" sz="1200" b="1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Condensed" panose="02000503000000020004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696C96-D54A-404A-E064-061ABE3B7596}"/>
              </a:ext>
            </a:extLst>
          </p:cNvPr>
          <p:cNvGrpSpPr/>
          <p:nvPr userDrawn="1"/>
        </p:nvGrpSpPr>
        <p:grpSpPr>
          <a:xfrm>
            <a:off x="410094" y="6415267"/>
            <a:ext cx="1485381" cy="457200"/>
            <a:chOff x="410094" y="6113608"/>
            <a:chExt cx="2344292" cy="74439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F6B42A-FDA6-A7EF-0D58-14285327B3F7}"/>
                </a:ext>
              </a:extLst>
            </p:cNvPr>
            <p:cNvSpPr/>
            <p:nvPr userDrawn="1"/>
          </p:nvSpPr>
          <p:spPr>
            <a:xfrm>
              <a:off x="437357" y="6113608"/>
              <a:ext cx="2289767" cy="744391"/>
            </a:xfrm>
            <a:prstGeom prst="rect">
              <a:avLst/>
            </a:prstGeom>
            <a:solidFill>
              <a:srgbClr val="DB0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79522F3-E998-29AA-9D4A-2A013F6013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10094" y="6199079"/>
              <a:ext cx="2344292" cy="5802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32908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7FAE-9A90-8E8A-3E95-3E2D80A7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27" y="228940"/>
            <a:ext cx="11274147" cy="443198"/>
          </a:xfrm>
        </p:spPr>
        <p:txBody>
          <a:bodyPr lIns="0" tIns="0" rIns="0" bIns="0" anchor="t">
            <a:spAutoFit/>
          </a:bodyPr>
          <a:lstStyle>
            <a:lvl1pPr>
              <a:defRPr sz="3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E8EDA1-762E-55C6-50C7-EF85AC218BCA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FDB3-753B-9524-A1E2-4F6C389A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6ED4E-EFD9-C56B-35ED-CA02745905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3F17C1D-CCA4-D609-3557-1517317358F5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A1A2D4B-76D6-A174-F605-785C7DD41B7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8927" y="730937"/>
            <a:ext cx="3932237" cy="249299"/>
          </a:xfrm>
        </p:spPr>
        <p:txBody>
          <a:bodyPr vert="horz" lIns="0" tIns="0" rIns="0" bIns="0" rtlCol="0" anchor="t">
            <a:spAutoFit/>
          </a:bodyPr>
          <a:lstStyle>
            <a:lvl1pPr>
              <a:defRPr lang="en-US" sz="1800" b="0" dirty="0"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6275359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86667"/>
            <a:ext cx="2664000" cy="2764899"/>
          </a:xfrm>
        </p:spPr>
        <p:txBody>
          <a:bodyPr rIns="9144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152396" indent="-1523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marL="717533" indent="-241294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marL="1073124" indent="-234945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Title Here (Go Header &amp; Footer to edit this text)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15689" y="6257925"/>
            <a:ext cx="533400" cy="1968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AA3FBC-51B8-426A-8893-284E5C1F6D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3333163" y="3386667"/>
            <a:ext cx="2664000" cy="2764899"/>
          </a:xfrm>
        </p:spPr>
        <p:txBody>
          <a:bodyPr rIns="9144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152396" indent="-1523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marL="717533" indent="-241294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marL="1073124" indent="-234945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6209125" y="3386667"/>
            <a:ext cx="2664000" cy="2764899"/>
          </a:xfrm>
        </p:spPr>
        <p:txBody>
          <a:bodyPr rIns="9144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152396" indent="-1523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marL="717533" indent="-241294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marL="1073124" indent="-234945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9085089" y="3386667"/>
            <a:ext cx="2664000" cy="2764899"/>
          </a:xfrm>
        </p:spPr>
        <p:txBody>
          <a:bodyPr rIns="9144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152396" indent="-1523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marL="717533" indent="-241294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marL="1073124" indent="-234945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Content Placeholder 2"/>
          <p:cNvSpPr>
            <a:spLocks noGrp="1"/>
          </p:cNvSpPr>
          <p:nvPr>
            <p:ph idx="17"/>
          </p:nvPr>
        </p:nvSpPr>
        <p:spPr>
          <a:xfrm>
            <a:off x="457200" y="2108201"/>
            <a:ext cx="2664000" cy="1070415"/>
          </a:xfrm>
        </p:spPr>
        <p:txBody>
          <a:bodyPr rIns="9144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152396" indent="-152396">
              <a:spcBef>
                <a:spcPts val="0"/>
              </a:spcBef>
              <a:defRPr/>
            </a:lvl3pPr>
            <a:lvl4pPr marL="717533" indent="-241294">
              <a:spcBef>
                <a:spcPts val="0"/>
              </a:spcBef>
              <a:defRPr/>
            </a:lvl4pPr>
            <a:lvl5pPr marL="1073124" indent="-234945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8"/>
          </p:nvPr>
        </p:nvSpPr>
        <p:spPr>
          <a:xfrm>
            <a:off x="3333163" y="2108201"/>
            <a:ext cx="2664000" cy="1070415"/>
          </a:xfrm>
        </p:spPr>
        <p:txBody>
          <a:bodyPr rIns="9144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152396" indent="-152396">
              <a:spcBef>
                <a:spcPts val="0"/>
              </a:spcBef>
              <a:defRPr/>
            </a:lvl3pPr>
            <a:lvl4pPr marL="717533" indent="-241294">
              <a:spcBef>
                <a:spcPts val="0"/>
              </a:spcBef>
              <a:defRPr/>
            </a:lvl4pPr>
            <a:lvl5pPr marL="1073124" indent="-234945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9"/>
          </p:nvPr>
        </p:nvSpPr>
        <p:spPr>
          <a:xfrm>
            <a:off x="6209125" y="2108201"/>
            <a:ext cx="2664000" cy="1070415"/>
          </a:xfrm>
        </p:spPr>
        <p:txBody>
          <a:bodyPr rIns="9144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152396" indent="-152396">
              <a:spcBef>
                <a:spcPts val="0"/>
              </a:spcBef>
              <a:defRPr/>
            </a:lvl3pPr>
            <a:lvl4pPr marL="717533" indent="-241294">
              <a:spcBef>
                <a:spcPts val="0"/>
              </a:spcBef>
              <a:defRPr/>
            </a:lvl4pPr>
            <a:lvl5pPr marL="1073124" indent="-234945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20"/>
          </p:nvPr>
        </p:nvSpPr>
        <p:spPr>
          <a:xfrm>
            <a:off x="9085089" y="2108201"/>
            <a:ext cx="2664000" cy="1070415"/>
          </a:xfrm>
        </p:spPr>
        <p:txBody>
          <a:bodyPr rIns="9144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152396" indent="-152396">
              <a:spcBef>
                <a:spcPts val="0"/>
              </a:spcBef>
              <a:defRPr/>
            </a:lvl3pPr>
            <a:lvl4pPr marL="717533" indent="-241294">
              <a:spcBef>
                <a:spcPts val="0"/>
              </a:spcBef>
              <a:defRPr/>
            </a:lvl4pPr>
            <a:lvl5pPr marL="1073124" indent="-234945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204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58661F-95C1-B4E4-0A23-B8DF22E7890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5842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0B31DB7-7E61-84AD-6FD2-E7035923C5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75104"/>
            <a:ext cx="253569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C05A197-25AD-0D46-72B3-478F9182C5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C00AC3-107E-A09F-8DF5-09CDA496E0E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 bwMode="ltGray">
          <a:xfrm>
            <a:off x="34290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E8CE4D2-B387-0A2B-B7D1-7F14B892048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13125" y="4575104"/>
            <a:ext cx="253411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6618941-6CC1-7AAC-4FE2-94D7D46F79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22188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A62A022-68CB-A937-A489-4F6F1B7467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62484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7F06D45-B145-3780-49F6-BE617DDBDE4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40462" y="4575104"/>
            <a:ext cx="253411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B0B40D6-1117-8B24-4089-BB3CEF4DAF3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34836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41013BA-5459-4F89-B59D-0ADC194876D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78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9C586E8F-D3A3-C215-76A4-E3A03A5104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76259" y="4575104"/>
            <a:ext cx="253411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11900E2-1D2D-6D0A-7E29-8FAEA637B2C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82208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781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8AC1C9-5CB2-5AD0-6F47-B81D9994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AF3C9-F900-6044-F6C5-82DC7ED76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91849-A017-1CD7-1A69-983AE4DC4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279B9-8C62-485D-9998-D69AA4ADA18A}" type="datetimeFigureOut">
              <a:rPr lang="en-NZ" smtClean="0"/>
              <a:t>21/04/2026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CA542-95BC-D7BE-3264-443023CD7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697CC-3704-8777-4719-0E825AF3A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7537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f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BDACE6-625A-36D8-4FA5-10157007D3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3" t="39448" r="34510" b="206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4A1E12-72E4-0D12-3EC5-1A0C2FBE7980}"/>
              </a:ext>
            </a:extLst>
          </p:cNvPr>
          <p:cNvSpPr/>
          <p:nvPr/>
        </p:nvSpPr>
        <p:spPr>
          <a:xfrm>
            <a:off x="-1" y="1782450"/>
            <a:ext cx="6676571" cy="16465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54EA1319-70DA-8BA1-AF6B-FFA1C1C30967}"/>
              </a:ext>
            </a:extLst>
          </p:cNvPr>
          <p:cNvSpPr txBox="1">
            <a:spLocks/>
          </p:cNvSpPr>
          <p:nvPr/>
        </p:nvSpPr>
        <p:spPr>
          <a:xfrm>
            <a:off x="228600" y="2068054"/>
            <a:ext cx="5550535" cy="110799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Aft>
                <a:spcPts val="400"/>
              </a:spcAft>
              <a:defRPr/>
            </a:pPr>
            <a:r>
              <a:rPr lang="en-US" sz="3600" dirty="0">
                <a:solidFill>
                  <a:schemeClr val="bg1"/>
                </a:solidFill>
              </a:rPr>
              <a:t>Ontology-Driven Data Agent for E-commerce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BB19B-CD80-F9FF-A693-1B6D4BDD4C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66" t="19143" r="6466" b="19143"/>
          <a:stretch/>
        </p:blipFill>
        <p:spPr>
          <a:xfrm>
            <a:off x="228599" y="6081487"/>
            <a:ext cx="3403697" cy="5967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1BFBBF-753F-411A-7897-C0C08A647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8" r="25938"/>
          <a:stretch/>
        </p:blipFill>
        <p:spPr>
          <a:xfrm>
            <a:off x="6002394" y="0"/>
            <a:ext cx="6189605" cy="6858000"/>
          </a:xfrm>
          <a:custGeom>
            <a:avLst/>
            <a:gdLst>
              <a:gd name="csX0" fmla="*/ 253778 w 6189604"/>
              <a:gd name="csY0" fmla="*/ 0 h 6857999"/>
              <a:gd name="csX1" fmla="*/ 663370 w 6189604"/>
              <a:gd name="csY1" fmla="*/ 0 h 6857999"/>
              <a:gd name="csX2" fmla="*/ 569602 w 6189604"/>
              <a:gd name="csY2" fmla="*/ 435886 h 6857999"/>
              <a:gd name="csX3" fmla="*/ 569594 w 6189604"/>
              <a:gd name="csY3" fmla="*/ 435935 h 6857999"/>
              <a:gd name="csX4" fmla="*/ 509658 w 6189604"/>
              <a:gd name="csY4" fmla="*/ 775036 h 6857999"/>
              <a:gd name="csX5" fmla="*/ 504549 w 6189604"/>
              <a:gd name="csY5" fmla="*/ 811428 h 6857999"/>
              <a:gd name="csX6" fmla="*/ 499447 w 6189604"/>
              <a:gd name="csY6" fmla="*/ 840883 h 6857999"/>
              <a:gd name="csX7" fmla="*/ 488310 w 6189604"/>
              <a:gd name="csY7" fmla="*/ 927103 h 6857999"/>
              <a:gd name="csX8" fmla="*/ 464325 w 6189604"/>
              <a:gd name="csY8" fmla="*/ 1097956 h 6857999"/>
              <a:gd name="csX9" fmla="*/ 457034 w 6189604"/>
              <a:gd name="csY9" fmla="*/ 1169244 h 6857999"/>
              <a:gd name="csX10" fmla="*/ 450113 w 6189604"/>
              <a:gd name="csY10" fmla="*/ 1222821 h 6857999"/>
              <a:gd name="csX11" fmla="*/ 444044 w 6189604"/>
              <a:gd name="csY11" fmla="*/ 1296241 h 6857999"/>
              <a:gd name="csX12" fmla="*/ 432846 w 6189604"/>
              <a:gd name="csY12" fmla="*/ 1405728 h 6857999"/>
              <a:gd name="csX13" fmla="*/ 426150 w 6189604"/>
              <a:gd name="csY13" fmla="*/ 1512725 h 6857999"/>
              <a:gd name="csX14" fmla="*/ 420294 w 6189604"/>
              <a:gd name="csY14" fmla="*/ 1583571 h 6857999"/>
              <a:gd name="csX15" fmla="*/ 418600 w 6189604"/>
              <a:gd name="csY15" fmla="*/ 1633352 h 6857999"/>
              <a:gd name="csX16" fmla="*/ 414464 w 6189604"/>
              <a:gd name="csY16" fmla="*/ 1699439 h 6857999"/>
              <a:gd name="csX17" fmla="*/ 408680 w 6189604"/>
              <a:gd name="csY17" fmla="*/ 1925003 h 6857999"/>
              <a:gd name="csX18" fmla="*/ 408680 w 6189604"/>
              <a:gd name="csY18" fmla="*/ 1925009 h 6857999"/>
              <a:gd name="csX19" fmla="*/ 408680 w 6189604"/>
              <a:gd name="csY19" fmla="*/ 1925011 h 6857999"/>
              <a:gd name="csX20" fmla="*/ 408680 w 6189604"/>
              <a:gd name="csY20" fmla="*/ 1925003 h 6857999"/>
              <a:gd name="csX21" fmla="*/ 418600 w 6189604"/>
              <a:gd name="csY21" fmla="*/ 1633352 h 6857999"/>
              <a:gd name="csX22" fmla="*/ 426150 w 6189604"/>
              <a:gd name="csY22" fmla="*/ 1512725 h 6857999"/>
              <a:gd name="csX23" fmla="*/ 444044 w 6189604"/>
              <a:gd name="csY23" fmla="*/ 1296241 h 6857999"/>
              <a:gd name="csX24" fmla="*/ 457034 w 6189604"/>
              <a:gd name="csY24" fmla="*/ 1169244 h 6857999"/>
              <a:gd name="csX25" fmla="*/ 488310 w 6189604"/>
              <a:gd name="csY25" fmla="*/ 927103 h 6857999"/>
              <a:gd name="csX26" fmla="*/ 504549 w 6189604"/>
              <a:gd name="csY26" fmla="*/ 811428 h 6857999"/>
              <a:gd name="csX27" fmla="*/ 569594 w 6189604"/>
              <a:gd name="csY27" fmla="*/ 435935 h 6857999"/>
              <a:gd name="csX28" fmla="*/ 569602 w 6189604"/>
              <a:gd name="csY28" fmla="*/ 435887 h 6857999"/>
              <a:gd name="csX29" fmla="*/ 663370 w 6189604"/>
              <a:gd name="csY29" fmla="*/ 0 h 6857999"/>
              <a:gd name="csX30" fmla="*/ 6189604 w 6189604"/>
              <a:gd name="csY30" fmla="*/ 0 h 6857999"/>
              <a:gd name="csX31" fmla="*/ 6189604 w 6189604"/>
              <a:gd name="csY31" fmla="*/ 6857999 h 6857999"/>
              <a:gd name="csX32" fmla="*/ 6189602 w 6189604"/>
              <a:gd name="csY32" fmla="*/ 6857999 h 6857999"/>
              <a:gd name="csX33" fmla="*/ 1808522 w 6189604"/>
              <a:gd name="csY33" fmla="*/ 6857999 h 6857999"/>
              <a:gd name="csX34" fmla="*/ 1371738 w 6189604"/>
              <a:gd name="csY34" fmla="*/ 6857999 h 6857999"/>
              <a:gd name="csX35" fmla="*/ 1355694 w 6189604"/>
              <a:gd name="csY35" fmla="*/ 6807841 h 6857999"/>
              <a:gd name="csX36" fmla="*/ 223222 w 6189604"/>
              <a:gd name="csY36" fmla="*/ 135683 h 6857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189604" h="6857999">
                <a:moveTo>
                  <a:pt x="253778" y="0"/>
                </a:moveTo>
                <a:lnTo>
                  <a:pt x="663370" y="0"/>
                </a:lnTo>
                <a:lnTo>
                  <a:pt x="569602" y="435886"/>
                </a:lnTo>
                <a:lnTo>
                  <a:pt x="569594" y="435935"/>
                </a:lnTo>
                <a:lnTo>
                  <a:pt x="509658" y="775036"/>
                </a:lnTo>
                <a:lnTo>
                  <a:pt x="504549" y="811428"/>
                </a:lnTo>
                <a:lnTo>
                  <a:pt x="499447" y="840883"/>
                </a:lnTo>
                <a:lnTo>
                  <a:pt x="488310" y="927103"/>
                </a:lnTo>
                <a:lnTo>
                  <a:pt x="464325" y="1097956"/>
                </a:lnTo>
                <a:lnTo>
                  <a:pt x="457034" y="1169244"/>
                </a:lnTo>
                <a:lnTo>
                  <a:pt x="450113" y="1222821"/>
                </a:lnTo>
                <a:lnTo>
                  <a:pt x="444044" y="1296241"/>
                </a:lnTo>
                <a:lnTo>
                  <a:pt x="432846" y="1405728"/>
                </a:lnTo>
                <a:lnTo>
                  <a:pt x="426150" y="1512725"/>
                </a:lnTo>
                <a:lnTo>
                  <a:pt x="420294" y="1583571"/>
                </a:lnTo>
                <a:lnTo>
                  <a:pt x="418600" y="1633352"/>
                </a:lnTo>
                <a:lnTo>
                  <a:pt x="414464" y="1699439"/>
                </a:lnTo>
                <a:lnTo>
                  <a:pt x="408680" y="1925003"/>
                </a:lnTo>
                <a:lnTo>
                  <a:pt x="408680" y="1925009"/>
                </a:lnTo>
                <a:lnTo>
                  <a:pt x="408680" y="1925011"/>
                </a:lnTo>
                <a:lnTo>
                  <a:pt x="408680" y="1925003"/>
                </a:lnTo>
                <a:lnTo>
                  <a:pt x="418600" y="1633352"/>
                </a:lnTo>
                <a:lnTo>
                  <a:pt x="426150" y="1512725"/>
                </a:lnTo>
                <a:lnTo>
                  <a:pt x="444044" y="1296241"/>
                </a:lnTo>
                <a:lnTo>
                  <a:pt x="457034" y="1169244"/>
                </a:lnTo>
                <a:lnTo>
                  <a:pt x="488310" y="927103"/>
                </a:lnTo>
                <a:lnTo>
                  <a:pt x="504549" y="811428"/>
                </a:lnTo>
                <a:lnTo>
                  <a:pt x="569594" y="435935"/>
                </a:lnTo>
                <a:lnTo>
                  <a:pt x="569602" y="435887"/>
                </a:lnTo>
                <a:lnTo>
                  <a:pt x="663370" y="0"/>
                </a:lnTo>
                <a:lnTo>
                  <a:pt x="6189604" y="0"/>
                </a:lnTo>
                <a:lnTo>
                  <a:pt x="6189604" y="6857999"/>
                </a:lnTo>
                <a:lnTo>
                  <a:pt x="6189602" y="6857999"/>
                </a:lnTo>
                <a:lnTo>
                  <a:pt x="1808522" y="6857999"/>
                </a:lnTo>
                <a:lnTo>
                  <a:pt x="1371738" y="6857999"/>
                </a:lnTo>
                <a:lnTo>
                  <a:pt x="1355694" y="6807841"/>
                </a:lnTo>
                <a:cubicBezTo>
                  <a:pt x="611054" y="4580673"/>
                  <a:pt x="-471777" y="3367817"/>
                  <a:pt x="223222" y="135683"/>
                </a:cubicBezTo>
                <a:close/>
              </a:path>
            </a:pathLst>
          </a:cu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4BDB557-5620-CD25-0B70-B883CAB35692}"/>
              </a:ext>
            </a:extLst>
          </p:cNvPr>
          <p:cNvSpPr/>
          <p:nvPr/>
        </p:nvSpPr>
        <p:spPr>
          <a:xfrm rot="5400000">
            <a:off x="5872409" y="446970"/>
            <a:ext cx="6858000" cy="5781180"/>
          </a:xfrm>
          <a:custGeom>
            <a:avLst/>
            <a:gdLst>
              <a:gd name="csX0" fmla="*/ 0 w 6858000"/>
              <a:gd name="csY0" fmla="*/ 5526234 h 5781180"/>
              <a:gd name="csX1" fmla="*/ 0 w 6858000"/>
              <a:gd name="csY1" fmla="*/ 0 h 5781180"/>
              <a:gd name="csX2" fmla="*/ 6858000 w 6858000"/>
              <a:gd name="csY2" fmla="*/ 0 h 5781180"/>
              <a:gd name="csX3" fmla="*/ 6858000 w 6858000"/>
              <a:gd name="csY3" fmla="*/ 4381081 h 5781180"/>
              <a:gd name="csX4" fmla="*/ 6693668 w 6858000"/>
              <a:gd name="csY4" fmla="*/ 4427847 h 5781180"/>
              <a:gd name="csX5" fmla="*/ 435887 w 6858000"/>
              <a:gd name="csY5" fmla="*/ 5620002 h 5781180"/>
              <a:gd name="csX6" fmla="*/ 0 w 6858000"/>
              <a:gd name="csY6" fmla="*/ 5526234 h 57811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5781180">
                <a:moveTo>
                  <a:pt x="0" y="5526234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381081"/>
                </a:lnTo>
                <a:lnTo>
                  <a:pt x="6693668" y="4427847"/>
                </a:lnTo>
                <a:cubicBezTo>
                  <a:pt x="4477410" y="5093545"/>
                  <a:pt x="3402303" y="6196008"/>
                  <a:pt x="435887" y="5620002"/>
                </a:cubicBezTo>
                <a:lnTo>
                  <a:pt x="0" y="552623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9861A01-F6F9-8FA3-C63C-0FFC45BC0DED}"/>
              </a:ext>
            </a:extLst>
          </p:cNvPr>
          <p:cNvSpPr/>
          <p:nvPr/>
        </p:nvSpPr>
        <p:spPr>
          <a:xfrm rot="5400000">
            <a:off x="5668198" y="334199"/>
            <a:ext cx="6858000" cy="6189602"/>
          </a:xfrm>
          <a:custGeom>
            <a:avLst/>
            <a:gdLst>
              <a:gd name="csX0" fmla="*/ 0 w 6858000"/>
              <a:gd name="csY0" fmla="*/ 5935824 h 6189602"/>
              <a:gd name="csX1" fmla="*/ 0 w 6858000"/>
              <a:gd name="csY1" fmla="*/ 5526233 h 6189602"/>
              <a:gd name="csX2" fmla="*/ 435886 w 6858000"/>
              <a:gd name="csY2" fmla="*/ 5620001 h 6189602"/>
              <a:gd name="csX3" fmla="*/ 6693667 w 6858000"/>
              <a:gd name="csY3" fmla="*/ 4427846 h 6189602"/>
              <a:gd name="csX4" fmla="*/ 6857999 w 6858000"/>
              <a:gd name="csY4" fmla="*/ 4381080 h 6189602"/>
              <a:gd name="csX5" fmla="*/ 6857999 w 6858000"/>
              <a:gd name="csY5" fmla="*/ 0 h 6189602"/>
              <a:gd name="csX6" fmla="*/ 6858000 w 6858000"/>
              <a:gd name="csY6" fmla="*/ 0 h 6189602"/>
              <a:gd name="csX7" fmla="*/ 6857999 w 6858000"/>
              <a:gd name="csY7" fmla="*/ 4817864 h 6189602"/>
              <a:gd name="csX8" fmla="*/ 6807842 w 6858000"/>
              <a:gd name="csY8" fmla="*/ 4833908 h 6189602"/>
              <a:gd name="csX9" fmla="*/ 135683 w 6858000"/>
              <a:gd name="csY9" fmla="*/ 5966381 h 61896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858000" h="6189602">
                <a:moveTo>
                  <a:pt x="0" y="5935824"/>
                </a:moveTo>
                <a:lnTo>
                  <a:pt x="0" y="5526233"/>
                </a:lnTo>
                <a:lnTo>
                  <a:pt x="435886" y="5620001"/>
                </a:lnTo>
                <a:cubicBezTo>
                  <a:pt x="3402302" y="6196007"/>
                  <a:pt x="4477409" y="5093544"/>
                  <a:pt x="6693667" y="4427846"/>
                </a:cubicBezTo>
                <a:lnTo>
                  <a:pt x="6857999" y="4381080"/>
                </a:lnTo>
                <a:lnTo>
                  <a:pt x="6857999" y="0"/>
                </a:lnTo>
                <a:lnTo>
                  <a:pt x="6858000" y="0"/>
                </a:lnTo>
                <a:lnTo>
                  <a:pt x="6857999" y="4817864"/>
                </a:lnTo>
                <a:lnTo>
                  <a:pt x="6807842" y="4833908"/>
                </a:lnTo>
                <a:cubicBezTo>
                  <a:pt x="4580673" y="5578548"/>
                  <a:pt x="3367818" y="6661380"/>
                  <a:pt x="135683" y="5966381"/>
                </a:cubicBezTo>
                <a:close/>
              </a:path>
            </a:pathLst>
          </a:custGeom>
          <a:solidFill>
            <a:schemeClr val="accent1">
              <a:lumMod val="50000"/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0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3F0B91-57E0-89E5-164D-9E30CD3A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23" y="228940"/>
            <a:ext cx="11274147" cy="443198"/>
          </a:xfrm>
        </p:spPr>
        <p:txBody>
          <a:bodyPr/>
          <a:lstStyle/>
          <a:p>
            <a:pPr marR="3081">
              <a:spcAft>
                <a:spcPts val="400"/>
              </a:spcAft>
              <a:buClr>
                <a:schemeClr val="tx1"/>
              </a:buClr>
              <a:defRPr/>
            </a:pPr>
            <a:r>
              <a:rPr lang="en-US" altLang="en-US" dirty="0">
                <a:solidFill>
                  <a:prstClr val="black"/>
                </a:solidFill>
              </a:rPr>
              <a:t>Introduction &amp; Overview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54958F-730F-7B92-F793-7056E9DF5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41" t="22645" r="2463" b="7725"/>
          <a:stretch>
            <a:fillRect/>
          </a:stretch>
        </p:blipFill>
        <p:spPr>
          <a:xfrm>
            <a:off x="5283648" y="1655435"/>
            <a:ext cx="6545495" cy="4247471"/>
          </a:xfrm>
          <a:prstGeom prst="rect">
            <a:avLst/>
          </a:prstGeom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7E56EB-A680-000D-A19C-1F6F6CA3D6F1}"/>
              </a:ext>
            </a:extLst>
          </p:cNvPr>
          <p:cNvSpPr txBox="1"/>
          <p:nvPr/>
        </p:nvSpPr>
        <p:spPr>
          <a:xfrm>
            <a:off x="362858" y="1306332"/>
            <a:ext cx="4775199" cy="1105088"/>
          </a:xfrm>
          <a:prstGeom prst="rect">
            <a:avLst/>
          </a:prstGeom>
          <a:solidFill>
            <a:schemeClr val="accent2"/>
          </a:solidFill>
        </p:spPr>
        <p:txBody>
          <a:bodyPr wrap="square" lIns="90000" tIns="90000" rIns="90000" bIns="90000" anchor="t">
            <a:sp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r>
              <a:rPr lang="en-US" altLang="en-US" sz="2000" dirty="0">
                <a:solidFill>
                  <a:schemeClr val="bg1"/>
                </a:solidFill>
              </a:rPr>
              <a:t>Fabric IQ is the semantic intelligence layer in Microsoft Fabric that unifies </a:t>
            </a:r>
            <a:r>
              <a:rPr lang="en-US" altLang="en-US" sz="2000" b="1" dirty="0">
                <a:solidFill>
                  <a:schemeClr val="bg1"/>
                </a:solidFill>
              </a:rPr>
              <a:t>data, business meaning, and actions.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94A30-F3D9-557A-7F6F-EE3307AE94D2}"/>
              </a:ext>
            </a:extLst>
          </p:cNvPr>
          <p:cNvSpPr txBox="1"/>
          <p:nvPr/>
        </p:nvSpPr>
        <p:spPr>
          <a:xfrm>
            <a:off x="362858" y="2894231"/>
            <a:ext cx="4775199" cy="32111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r>
              <a:rPr lang="en-US" altLang="en-US" sz="1600" b="1" dirty="0">
                <a:solidFill>
                  <a:prstClr val="black"/>
                </a:solidFill>
              </a:rPr>
              <a:t>Force Multiplier for Your Data Estate</a:t>
            </a:r>
          </a:p>
          <a:p>
            <a:pPr marL="261938" marR="3081" indent="-261938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prstClr val="black"/>
                </a:solidFill>
              </a:rPr>
              <a:t>Not a replacement, but an enhancement for your existing Fabric and One Lake investments, adding a layer of intelligence over raw data. </a:t>
            </a:r>
          </a:p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r>
              <a:rPr lang="en-US" altLang="en-US" sz="1600" b="1" dirty="0">
                <a:solidFill>
                  <a:prstClr val="black"/>
                </a:solidFill>
              </a:rPr>
              <a:t>Shared, Real-Time Business Model</a:t>
            </a:r>
          </a:p>
          <a:p>
            <a:pPr marL="261938" marR="3081" indent="-261938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prstClr val="black"/>
                </a:solidFill>
              </a:rPr>
              <a:t>Defines entities, relationships, rules, and actions in a unified ontology that reflects how your business actually operates.</a:t>
            </a:r>
          </a:p>
          <a:p>
            <a:pPr marL="261938" marR="3081" indent="-261938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r>
              <a:rPr lang="en-US" altLang="en-US" sz="1600" b="1" dirty="0">
                <a:solidFill>
                  <a:prstClr val="black"/>
                </a:solidFill>
              </a:rPr>
              <a:t>Grounded AI &amp; BI Semantics</a:t>
            </a:r>
          </a:p>
          <a:p>
            <a:pPr marL="261938" marR="3081" indent="-261938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prstClr val="black"/>
                </a:solidFill>
              </a:rPr>
              <a:t>Ensures Al agents and Bl reports speak the same language, providing consistent, explainable, and trustworthy insights.</a:t>
            </a:r>
            <a:endParaRPr lang="en-US" altLang="en-US" sz="16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755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EB2E3E-958C-4F9B-6427-1D3D587ABA93}"/>
              </a:ext>
            </a:extLst>
          </p:cNvPr>
          <p:cNvSpPr txBox="1"/>
          <p:nvPr/>
        </p:nvSpPr>
        <p:spPr>
          <a:xfrm>
            <a:off x="377372" y="1119944"/>
            <a:ext cx="5066392" cy="325883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0000" tIns="90000" rIns="90000" bIns="90000" anchor="t">
            <a:no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endParaRPr lang="en-US" altLang="en-US" sz="2000" b="1">
              <a:solidFill>
                <a:schemeClr val="bg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5007887-B05B-A240-C532-6278E753821D}"/>
              </a:ext>
            </a:extLst>
          </p:cNvPr>
          <p:cNvGraphicFramePr>
            <a:graphicFrameLocks noGrp="1"/>
          </p:cNvGraphicFramePr>
          <p:nvPr/>
        </p:nvGraphicFramePr>
        <p:xfrm>
          <a:off x="2612571" y="4612234"/>
          <a:ext cx="92006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327">
                  <a:extLst>
                    <a:ext uri="{9D8B030D-6E8A-4147-A177-3AD203B41FA5}">
                      <a16:colId xmlns:a16="http://schemas.microsoft.com/office/drawing/2014/main" val="311398606"/>
                    </a:ext>
                  </a:extLst>
                </a:gridCol>
                <a:gridCol w="4600327">
                  <a:extLst>
                    <a:ext uri="{9D8B030D-6E8A-4147-A177-3AD203B41FA5}">
                      <a16:colId xmlns:a16="http://schemas.microsoft.com/office/drawing/2014/main" val="1783525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Without Ontology</a:t>
                      </a:r>
                    </a:p>
                  </a:txBody>
                  <a:tcPr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With Fabric IQ Ontology</a:t>
                      </a:r>
                    </a:p>
                  </a:txBody>
                  <a:tcPr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85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AI guesses meanings</a:t>
                      </a:r>
                    </a:p>
                  </a:txBody>
                  <a:tcPr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AI understands intent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482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Same question → different answers</a:t>
                      </a:r>
                    </a:p>
                  </a:txBody>
                  <a:tcPr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Uses correct definitions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338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Copilot explanations are inconsistent</a:t>
                      </a:r>
                    </a:p>
                  </a:txBody>
                  <a:tcPr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Explains results clearly and correctly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23381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30B8FCA-8A0B-6261-6E9C-E0DBDFAB564E}"/>
              </a:ext>
            </a:extLst>
          </p:cNvPr>
          <p:cNvSpPr txBox="1"/>
          <p:nvPr/>
        </p:nvSpPr>
        <p:spPr>
          <a:xfrm>
            <a:off x="377372" y="4612233"/>
            <a:ext cx="2061028" cy="1483359"/>
          </a:xfrm>
          <a:prstGeom prst="rect">
            <a:avLst/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marL="87313">
              <a:buNone/>
            </a:pPr>
            <a:r>
              <a:rPr lang="en-US" b="1">
                <a:solidFill>
                  <a:schemeClr val="bg1"/>
                </a:solidFill>
              </a:rPr>
              <a:t>Why Fabric IQ + Ontology is Critical for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7C6CBC-0184-26EB-B625-0C8D76EBCD21}"/>
              </a:ext>
            </a:extLst>
          </p:cNvPr>
          <p:cNvSpPr txBox="1"/>
          <p:nvPr/>
        </p:nvSpPr>
        <p:spPr>
          <a:xfrm>
            <a:off x="558118" y="1312005"/>
            <a:ext cx="47049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 sz="1600" b="1">
                <a:solidFill>
                  <a:prstClr val="black"/>
                </a:solidFill>
              </a:defRPr>
            </a:lvl1pPr>
          </a:lstStyle>
          <a:p>
            <a:r>
              <a:rPr lang="en-US" sz="1800"/>
              <a:t>Fabric IQ </a:t>
            </a:r>
            <a:r>
              <a:rPr lang="en-US" sz="1800" b="0"/>
              <a:t>is a semantic and ontology-driven layer built on top of Fabric data and Power BI semantic models, enabling AI agents to reason, query, and explain enterprise data correctly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BC31D0-D2F2-9FBD-1ED7-A882D4E3FB9B}"/>
              </a:ext>
            </a:extLst>
          </p:cNvPr>
          <p:cNvSpPr txBox="1"/>
          <p:nvPr/>
        </p:nvSpPr>
        <p:spPr>
          <a:xfrm>
            <a:off x="558118" y="3078718"/>
            <a:ext cx="47049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 sz="1600" b="1">
                <a:solidFill>
                  <a:prstClr val="black"/>
                </a:solidFill>
              </a:defRPr>
            </a:lvl1pPr>
          </a:lstStyle>
          <a:p>
            <a:r>
              <a:rPr lang="en-US" sz="1800"/>
              <a:t>Ontology </a:t>
            </a:r>
            <a:r>
              <a:rPr lang="en-US" sz="1800" b="0"/>
              <a:t>is a structured semantic model that defines entities, attributes, relationships, metrics, business rules, and context, enabling AI reasoning and accurate query interpretation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33C8D1-F70A-0C8D-B539-FDE3E3016142}"/>
              </a:ext>
            </a:extLst>
          </p:cNvPr>
          <p:cNvCxnSpPr>
            <a:cxnSpLocks/>
          </p:cNvCxnSpPr>
          <p:nvPr/>
        </p:nvCxnSpPr>
        <p:spPr>
          <a:xfrm>
            <a:off x="557798" y="2749359"/>
            <a:ext cx="4705541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0E6CAB3-8A8C-ECFB-4D4A-179909C2BB4B}"/>
              </a:ext>
            </a:extLst>
          </p:cNvPr>
          <p:cNvSpPr txBox="1"/>
          <p:nvPr/>
        </p:nvSpPr>
        <p:spPr>
          <a:xfrm>
            <a:off x="5685320" y="1119944"/>
            <a:ext cx="6082691" cy="325883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0000" tIns="90000" rIns="90000" bIns="90000" anchor="t">
            <a:no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1E81EF-3148-EE6F-F236-D27182556221}"/>
              </a:ext>
            </a:extLst>
          </p:cNvPr>
          <p:cNvSpPr txBox="1"/>
          <p:nvPr/>
        </p:nvSpPr>
        <p:spPr>
          <a:xfrm>
            <a:off x="5870431" y="1312005"/>
            <a:ext cx="5726982" cy="285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 sz="1600" b="1">
                <a:solidFill>
                  <a:prstClr val="black"/>
                </a:solidFill>
              </a:defRPr>
            </a:lvl1pPr>
          </a:lstStyle>
          <a:p>
            <a:r>
              <a:rPr lang="en-US" sz="1800"/>
              <a:t>Relationship Between Fabric IQ and Ontology</a:t>
            </a:r>
          </a:p>
          <a:p>
            <a:r>
              <a:rPr lang="en-US" sz="1800" b="0"/>
              <a:t>Think of it this way:</a:t>
            </a:r>
          </a:p>
          <a:p>
            <a:r>
              <a:rPr lang="en-US" sz="1800"/>
              <a:t>Ontology = </a:t>
            </a:r>
            <a:r>
              <a:rPr lang="en-US" sz="1800" b="0"/>
              <a:t>Business meaning &amp; definitions</a:t>
            </a:r>
          </a:p>
          <a:p>
            <a:r>
              <a:rPr lang="en-US" sz="1800"/>
              <a:t>Fabric IQ = </a:t>
            </a:r>
            <a:r>
              <a:rPr lang="en-US" sz="1800" b="0"/>
              <a:t>System that uses ontology to power AI &amp; analytics</a:t>
            </a:r>
          </a:p>
          <a:p>
            <a:endParaRPr lang="en-US" sz="1800"/>
          </a:p>
          <a:p>
            <a:r>
              <a:rPr lang="en-US" sz="1800"/>
              <a:t>Simple analogy</a:t>
            </a:r>
          </a:p>
          <a:p>
            <a:r>
              <a:rPr lang="en-US" sz="1800" b="0"/>
              <a:t>Ontology = Dictionary + rulebook</a:t>
            </a:r>
          </a:p>
          <a:p>
            <a:r>
              <a:rPr lang="en-US" sz="1800" b="0"/>
              <a:t>Fabric IQ = Brain that reads the dictionary and answers questions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C33455E-B5C4-9BDE-A1AF-414BFA750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 IQ &amp; Ontology</a:t>
            </a:r>
          </a:p>
        </p:txBody>
      </p:sp>
    </p:spTree>
    <p:extLst>
      <p:ext uri="{BB962C8B-B14F-4D97-AF65-F5344CB8AC3E}">
        <p14:creationId xmlns:p14="http://schemas.microsoft.com/office/powerpoint/2010/main" val="1224768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226B0-8463-7D4C-3F1F-9BDF6556E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Features and Capabilities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6478D8-0EA1-61B9-71D2-ABF0E6B78836}"/>
              </a:ext>
            </a:extLst>
          </p:cNvPr>
          <p:cNvSpPr txBox="1"/>
          <p:nvPr/>
        </p:nvSpPr>
        <p:spPr>
          <a:xfrm>
            <a:off x="254123" y="680129"/>
            <a:ext cx="63724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r>
              <a:rPr lang="en-US" altLang="en-US">
                <a:solidFill>
                  <a:prstClr val="black"/>
                </a:solidFill>
              </a:rPr>
              <a:t>Core Components of Fabric IQ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38DEB-1792-519B-A4C0-FFC83BD92004}"/>
              </a:ext>
            </a:extLst>
          </p:cNvPr>
          <p:cNvSpPr txBox="1"/>
          <p:nvPr/>
        </p:nvSpPr>
        <p:spPr>
          <a:xfrm>
            <a:off x="4244680" y="1346957"/>
            <a:ext cx="3644583" cy="2319942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0000" tIns="90000" rIns="90000" bIns="90000" anchor="t">
            <a:no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D9E25-9B5B-7C11-51D5-AF8ED69CA0C0}"/>
              </a:ext>
            </a:extLst>
          </p:cNvPr>
          <p:cNvSpPr txBox="1"/>
          <p:nvPr/>
        </p:nvSpPr>
        <p:spPr>
          <a:xfrm>
            <a:off x="8111988" y="1346957"/>
            <a:ext cx="3644583" cy="2319942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0000" tIns="90000" rIns="90000" bIns="90000" anchor="t">
            <a:no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B7CA8A-54B5-34D0-2A0A-4601113888DB}"/>
              </a:ext>
            </a:extLst>
          </p:cNvPr>
          <p:cNvSpPr txBox="1"/>
          <p:nvPr/>
        </p:nvSpPr>
        <p:spPr>
          <a:xfrm>
            <a:off x="370484" y="1346957"/>
            <a:ext cx="3644583" cy="2319942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0000" tIns="90000" rIns="90000" bIns="90000" anchor="t">
            <a:no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016194-AB75-889F-B79B-19A471087DF8}"/>
              </a:ext>
            </a:extLst>
          </p:cNvPr>
          <p:cNvSpPr txBox="1"/>
          <p:nvPr/>
        </p:nvSpPr>
        <p:spPr>
          <a:xfrm>
            <a:off x="559815" y="2226404"/>
            <a:ext cx="3265920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 sz="1600" b="1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Ontology </a:t>
            </a:r>
          </a:p>
          <a:p>
            <a:r>
              <a:rPr lang="en-US" b="0" dirty="0"/>
              <a:t>Define a shared model of business entities, relationships, rules, and actions. Bind directly to live enterprise data in One Lake.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DFB351-F1BD-7C08-FB95-2A513B4A2ECF}"/>
              </a:ext>
            </a:extLst>
          </p:cNvPr>
          <p:cNvSpPr txBox="1"/>
          <p:nvPr/>
        </p:nvSpPr>
        <p:spPr>
          <a:xfrm>
            <a:off x="4434011" y="2226404"/>
            <a:ext cx="3265920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 sz="1600" b="1">
                <a:solidFill>
                  <a:prstClr val="black"/>
                </a:solidFill>
              </a:defRPr>
            </a:lvl1pPr>
          </a:lstStyle>
          <a:p>
            <a:r>
              <a:rPr lang="en-US"/>
              <a:t>Semantic Model</a:t>
            </a:r>
          </a:p>
          <a:p>
            <a:r>
              <a:rPr lang="en-US" b="0"/>
              <a:t>Leverage existing investments by reusing trusted Power BI semantic models to jumpstart your ontology creation instantly.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70356B-4FE3-4BD4-1C8F-FE995FB1FF5D}"/>
              </a:ext>
            </a:extLst>
          </p:cNvPr>
          <p:cNvSpPr txBox="1"/>
          <p:nvPr/>
        </p:nvSpPr>
        <p:spPr>
          <a:xfrm>
            <a:off x="8301319" y="2226404"/>
            <a:ext cx="3265920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 sz="1600" b="1">
                <a:solidFill>
                  <a:prstClr val="black"/>
                </a:solidFill>
              </a:defRPr>
            </a:lvl1pPr>
          </a:lstStyle>
          <a:p>
            <a:r>
              <a:rPr lang="en-US"/>
              <a:t>Graph (Native)</a:t>
            </a:r>
          </a:p>
          <a:p>
            <a:r>
              <a:rPr lang="en-US" b="0"/>
              <a:t>Perform multi-hop reasoning and path analysis across domains to uncover hidden dependencies and impact propagation.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34CC25-106C-3E95-E17F-746EA4DDFF7D}"/>
              </a:ext>
            </a:extLst>
          </p:cNvPr>
          <p:cNvSpPr txBox="1"/>
          <p:nvPr/>
        </p:nvSpPr>
        <p:spPr>
          <a:xfrm>
            <a:off x="2311026" y="3901471"/>
            <a:ext cx="3644583" cy="2319942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0000" tIns="90000" rIns="90000" bIns="90000" anchor="t">
            <a:no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9FAB26-2B7C-D071-A29B-07864B731038}"/>
              </a:ext>
            </a:extLst>
          </p:cNvPr>
          <p:cNvSpPr txBox="1"/>
          <p:nvPr/>
        </p:nvSpPr>
        <p:spPr>
          <a:xfrm>
            <a:off x="2500357" y="4780918"/>
            <a:ext cx="3265920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 sz="1600" b="1">
                <a:solidFill>
                  <a:prstClr val="black"/>
                </a:solidFill>
              </a:defRPr>
            </a:lvl1pPr>
          </a:lstStyle>
          <a:p>
            <a:r>
              <a:rPr lang="en-US"/>
              <a:t>Data Agent</a:t>
            </a:r>
          </a:p>
          <a:p>
            <a:r>
              <a:rPr lang="en-US" b="0"/>
              <a:t>Deploy virtual analysts that answer complex business questions via conversational Q&amp;A, grounded strictly in your enterprise semantics.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D50538-FD24-814C-CF3B-5029BD566D19}"/>
              </a:ext>
            </a:extLst>
          </p:cNvPr>
          <p:cNvSpPr txBox="1"/>
          <p:nvPr/>
        </p:nvSpPr>
        <p:spPr>
          <a:xfrm>
            <a:off x="6178334" y="3901471"/>
            <a:ext cx="3644583" cy="2319942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0000" tIns="90000" rIns="90000" bIns="90000" anchor="t">
            <a:no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043E2F-2C08-98A8-BD3C-09150ADA6248}"/>
              </a:ext>
            </a:extLst>
          </p:cNvPr>
          <p:cNvSpPr txBox="1"/>
          <p:nvPr/>
        </p:nvSpPr>
        <p:spPr>
          <a:xfrm>
            <a:off x="6367665" y="4780918"/>
            <a:ext cx="3265920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 sz="1600" b="1">
                <a:solidFill>
                  <a:prstClr val="black"/>
                </a:solidFill>
              </a:defRPr>
            </a:lvl1pPr>
          </a:lstStyle>
          <a:p>
            <a:r>
              <a:rPr lang="en-US"/>
              <a:t>Operations Agent</a:t>
            </a:r>
          </a:p>
          <a:p>
            <a:r>
              <a:rPr lang="en-US" b="0"/>
              <a:t>Empower autonomous agents to monitor signals, reason about conditions, and execute actions in real time with governed oversight.</a:t>
            </a:r>
          </a:p>
        </p:txBody>
      </p:sp>
      <p:pic>
        <p:nvPicPr>
          <p:cNvPr id="32" name="Picture 31" descr="A screenshot of a computer">
            <a:extLst>
              <a:ext uri="{FF2B5EF4-FFF2-40B4-BE49-F238E27FC236}">
                <a16:creationId xmlns:a16="http://schemas.microsoft.com/office/drawing/2014/main" id="{76557A96-87A2-7AD8-4BA5-5FF0C3AE8B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0" t="33149" r="88939" b="60635"/>
          <a:stretch>
            <a:fillRect/>
          </a:stretch>
        </p:blipFill>
        <p:spPr>
          <a:xfrm>
            <a:off x="559816" y="1489076"/>
            <a:ext cx="682244" cy="682243"/>
          </a:xfrm>
          <a:prstGeom prst="ellipse">
            <a:avLst/>
          </a:prstGeom>
        </p:spPr>
      </p:pic>
      <p:pic>
        <p:nvPicPr>
          <p:cNvPr id="33" name="Picture 32" descr="A screenshot of a computer">
            <a:extLst>
              <a:ext uri="{FF2B5EF4-FFF2-40B4-BE49-F238E27FC236}">
                <a16:creationId xmlns:a16="http://schemas.microsoft.com/office/drawing/2014/main" id="{E5A6C007-08F5-F4F4-7847-E8767C4D0D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69" t="32918" r="58240" b="60866"/>
          <a:stretch>
            <a:fillRect/>
          </a:stretch>
        </p:blipFill>
        <p:spPr>
          <a:xfrm>
            <a:off x="4434011" y="1489076"/>
            <a:ext cx="682244" cy="682243"/>
          </a:xfrm>
          <a:prstGeom prst="ellipse">
            <a:avLst/>
          </a:prstGeom>
        </p:spPr>
      </p:pic>
      <p:pic>
        <p:nvPicPr>
          <p:cNvPr id="34" name="Picture 33" descr="A screenshot of a computer">
            <a:extLst>
              <a:ext uri="{FF2B5EF4-FFF2-40B4-BE49-F238E27FC236}">
                <a16:creationId xmlns:a16="http://schemas.microsoft.com/office/drawing/2014/main" id="{BBCEA088-B239-00D1-E76B-143446A1883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12" t="32918" r="27697" b="60866"/>
          <a:stretch>
            <a:fillRect/>
          </a:stretch>
        </p:blipFill>
        <p:spPr>
          <a:xfrm>
            <a:off x="8301319" y="1489076"/>
            <a:ext cx="682244" cy="682243"/>
          </a:xfrm>
          <a:prstGeom prst="ellipse">
            <a:avLst/>
          </a:prstGeom>
        </p:spPr>
      </p:pic>
      <p:pic>
        <p:nvPicPr>
          <p:cNvPr id="35" name="Picture 34" descr="A screenshot of a computer">
            <a:extLst>
              <a:ext uri="{FF2B5EF4-FFF2-40B4-BE49-F238E27FC236}">
                <a16:creationId xmlns:a16="http://schemas.microsoft.com/office/drawing/2014/main" id="{12BABA61-A553-487A-4025-71E2634BFC0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3" t="67978" r="79906" b="25806"/>
          <a:stretch>
            <a:fillRect/>
          </a:stretch>
        </p:blipFill>
        <p:spPr>
          <a:xfrm>
            <a:off x="2500357" y="4034431"/>
            <a:ext cx="682244" cy="682243"/>
          </a:xfrm>
          <a:prstGeom prst="ellipse">
            <a:avLst/>
          </a:prstGeom>
        </p:spPr>
      </p:pic>
      <p:pic>
        <p:nvPicPr>
          <p:cNvPr id="36" name="Picture 35" descr="A screenshot of a computer">
            <a:extLst>
              <a:ext uri="{FF2B5EF4-FFF2-40B4-BE49-F238E27FC236}">
                <a16:creationId xmlns:a16="http://schemas.microsoft.com/office/drawing/2014/main" id="{F9B55DDD-058D-F010-1B85-ABA5A1CBF93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38" t="67978" r="44071" b="25806"/>
          <a:stretch>
            <a:fillRect/>
          </a:stretch>
        </p:blipFill>
        <p:spPr>
          <a:xfrm>
            <a:off x="6367665" y="4034431"/>
            <a:ext cx="682244" cy="68224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13130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3FEFBCF-1C68-934B-F1E9-D30F7C1CB116}"/>
              </a:ext>
            </a:extLst>
          </p:cNvPr>
          <p:cNvSpPr/>
          <p:nvPr/>
        </p:nvSpPr>
        <p:spPr>
          <a:xfrm>
            <a:off x="9377444" y="1328059"/>
            <a:ext cx="2316028" cy="3592285"/>
          </a:xfrm>
          <a:prstGeom prst="roundRect">
            <a:avLst>
              <a:gd name="adj" fmla="val 8724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0000" tIns="90000" rIns="90000" bIns="90000" anchor="t">
            <a:no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</a:pPr>
            <a:endParaRPr lang="en-US" sz="2000" b="1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DBBA52-316F-C17B-5F66-9F0ECA21A81C}"/>
              </a:ext>
            </a:extLst>
          </p:cNvPr>
          <p:cNvSpPr txBox="1"/>
          <p:nvPr/>
        </p:nvSpPr>
        <p:spPr>
          <a:xfrm>
            <a:off x="9571157" y="2066746"/>
            <a:ext cx="192860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 sz="1600" b="1">
                <a:solidFill>
                  <a:prstClr val="black"/>
                </a:solidFill>
              </a:defRPr>
            </a:lvl1pPr>
          </a:lstStyle>
          <a:p>
            <a:pPr algn="ctr"/>
            <a:r>
              <a:rPr lang="en-US" sz="1800"/>
              <a:t>Act</a:t>
            </a:r>
            <a:endParaRPr lang="en-US" sz="1800" b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9661509-4DBD-A343-8FC1-F8D42E9A2A66}"/>
              </a:ext>
            </a:extLst>
          </p:cNvPr>
          <p:cNvSpPr/>
          <p:nvPr/>
        </p:nvSpPr>
        <p:spPr>
          <a:xfrm>
            <a:off x="9519827" y="2409371"/>
            <a:ext cx="2031263" cy="4354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Operations Agent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C224117-B383-E9DD-A661-9CFE901727E1}"/>
              </a:ext>
            </a:extLst>
          </p:cNvPr>
          <p:cNvSpPr/>
          <p:nvPr/>
        </p:nvSpPr>
        <p:spPr>
          <a:xfrm>
            <a:off x="9519827" y="2949493"/>
            <a:ext cx="2031263" cy="4354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Activator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0AC0D7F-9684-403A-7D92-8B5993CEC591}"/>
              </a:ext>
            </a:extLst>
          </p:cNvPr>
          <p:cNvSpPr/>
          <p:nvPr/>
        </p:nvSpPr>
        <p:spPr>
          <a:xfrm>
            <a:off x="9519827" y="3489615"/>
            <a:ext cx="2031263" cy="4354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Data Agent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8AC226-7ACB-208F-66B5-69EAA03B0438}"/>
              </a:ext>
            </a:extLst>
          </p:cNvPr>
          <p:cNvSpPr/>
          <p:nvPr/>
        </p:nvSpPr>
        <p:spPr>
          <a:xfrm>
            <a:off x="9519827" y="4029736"/>
            <a:ext cx="2031263" cy="730513"/>
          </a:xfrm>
          <a:prstGeom prst="rect">
            <a:avLst/>
          </a:prstGeom>
          <a:solidFill>
            <a:srgbClr val="00B0F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/>
            <a:r>
              <a:rPr lang="en-IN">
                <a:solidFill>
                  <a:schemeClr val="tx1"/>
                </a:solidFill>
              </a:rPr>
              <a:t>Foundry IQ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8A857BF-B6F1-E43B-45AE-73B0DF39398E}"/>
              </a:ext>
            </a:extLst>
          </p:cNvPr>
          <p:cNvSpPr/>
          <p:nvPr/>
        </p:nvSpPr>
        <p:spPr>
          <a:xfrm>
            <a:off x="6448476" y="1328059"/>
            <a:ext cx="2316028" cy="3592285"/>
          </a:xfrm>
          <a:prstGeom prst="roundRect">
            <a:avLst>
              <a:gd name="adj" fmla="val 8724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0000" tIns="90000" rIns="90000" bIns="90000" anchor="t">
            <a:no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</a:pPr>
            <a:endParaRPr lang="en-US" sz="2000" b="1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D02557-4726-F9D1-2210-56C7CA06A65A}"/>
              </a:ext>
            </a:extLst>
          </p:cNvPr>
          <p:cNvSpPr txBox="1"/>
          <p:nvPr/>
        </p:nvSpPr>
        <p:spPr>
          <a:xfrm>
            <a:off x="6642189" y="2066746"/>
            <a:ext cx="192860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 sz="1600" b="1">
                <a:solidFill>
                  <a:prstClr val="black"/>
                </a:solidFill>
              </a:defRPr>
            </a:lvl1pPr>
          </a:lstStyle>
          <a:p>
            <a:pPr algn="ctr"/>
            <a:r>
              <a:rPr lang="en-US" sz="1800"/>
              <a:t>Analyze</a:t>
            </a:r>
            <a:endParaRPr lang="en-US" sz="1800" b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7AA2017-77B2-9BD1-6291-7FEB2182F5B6}"/>
              </a:ext>
            </a:extLst>
          </p:cNvPr>
          <p:cNvSpPr/>
          <p:nvPr/>
        </p:nvSpPr>
        <p:spPr>
          <a:xfrm>
            <a:off x="6590859" y="2409371"/>
            <a:ext cx="2031263" cy="4354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Power BI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07FE61D-69C3-C395-B7A2-009751326DCD}"/>
              </a:ext>
            </a:extLst>
          </p:cNvPr>
          <p:cNvSpPr/>
          <p:nvPr/>
        </p:nvSpPr>
        <p:spPr>
          <a:xfrm>
            <a:off x="6590859" y="2949493"/>
            <a:ext cx="2031263" cy="4354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Notebooks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ACF9C0E-3D11-7C81-9E1B-B45AAA87C535}"/>
              </a:ext>
            </a:extLst>
          </p:cNvPr>
          <p:cNvSpPr/>
          <p:nvPr/>
        </p:nvSpPr>
        <p:spPr>
          <a:xfrm>
            <a:off x="6590859" y="3489615"/>
            <a:ext cx="2031263" cy="4354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Copilot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5AB306-9A88-1EE5-2FE1-BD597A737E09}"/>
              </a:ext>
            </a:extLst>
          </p:cNvPr>
          <p:cNvSpPr/>
          <p:nvPr/>
        </p:nvSpPr>
        <p:spPr>
          <a:xfrm>
            <a:off x="6590859" y="4029736"/>
            <a:ext cx="2031263" cy="730513"/>
          </a:xfrm>
          <a:prstGeom prst="rect">
            <a:avLst/>
          </a:prstGeom>
          <a:solidFill>
            <a:srgbClr val="00B0F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/>
            <a:r>
              <a:rPr lang="en-IN">
                <a:solidFill>
                  <a:schemeClr val="tx1"/>
                </a:solidFill>
              </a:rPr>
              <a:t>Work IQ (M365)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1F5F9-E10A-827C-AE27-C4A70AFC1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How Fabric IQ Works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67EF6-6B25-689C-104A-8B0ACB626A28}"/>
              </a:ext>
            </a:extLst>
          </p:cNvPr>
          <p:cNvSpPr txBox="1"/>
          <p:nvPr/>
        </p:nvSpPr>
        <p:spPr>
          <a:xfrm>
            <a:off x="487803" y="680129"/>
            <a:ext cx="63724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r>
              <a:rPr lang="en-US" altLang="en-US">
                <a:solidFill>
                  <a:prstClr val="black"/>
                </a:solidFill>
              </a:rPr>
              <a:t>Architecture &amp; Ecosystem Integration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1A1B5B-C69A-DE2E-8C83-FC39C2EFCC51}"/>
              </a:ext>
            </a:extLst>
          </p:cNvPr>
          <p:cNvSpPr/>
          <p:nvPr/>
        </p:nvSpPr>
        <p:spPr>
          <a:xfrm>
            <a:off x="590542" y="1328059"/>
            <a:ext cx="2316028" cy="3592285"/>
          </a:xfrm>
          <a:prstGeom prst="roundRect">
            <a:avLst>
              <a:gd name="adj" fmla="val 8724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0000" tIns="90000" rIns="90000" bIns="90000" anchor="t">
            <a:no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</a:pPr>
            <a:endParaRPr lang="en-US" sz="2000" b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64C7FB-DFBE-CC2C-FC7E-0224ABB51E1B}"/>
              </a:ext>
            </a:extLst>
          </p:cNvPr>
          <p:cNvSpPr txBox="1"/>
          <p:nvPr/>
        </p:nvSpPr>
        <p:spPr>
          <a:xfrm>
            <a:off x="784255" y="2066746"/>
            <a:ext cx="192860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 sz="1600" b="1">
                <a:solidFill>
                  <a:prstClr val="black"/>
                </a:solidFill>
              </a:defRPr>
            </a:lvl1pPr>
          </a:lstStyle>
          <a:p>
            <a:pPr algn="ctr"/>
            <a:r>
              <a:rPr lang="en-US" sz="1800"/>
              <a:t>Ingest/Store</a:t>
            </a:r>
            <a:endParaRPr lang="en-US" sz="1800" b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26DB578-2019-7145-067D-8C7431101E86}"/>
              </a:ext>
            </a:extLst>
          </p:cNvPr>
          <p:cNvSpPr/>
          <p:nvPr/>
        </p:nvSpPr>
        <p:spPr>
          <a:xfrm>
            <a:off x="732925" y="2409371"/>
            <a:ext cx="2031263" cy="4354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One Lake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337C6A-C2AC-D83D-6046-76B6EC5C6B7F}"/>
              </a:ext>
            </a:extLst>
          </p:cNvPr>
          <p:cNvSpPr/>
          <p:nvPr/>
        </p:nvSpPr>
        <p:spPr>
          <a:xfrm>
            <a:off x="732925" y="2949493"/>
            <a:ext cx="2031263" cy="4354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Lakehouse's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E24814E-9DFD-7ED4-4D37-2BA3A50055DD}"/>
              </a:ext>
            </a:extLst>
          </p:cNvPr>
          <p:cNvSpPr/>
          <p:nvPr/>
        </p:nvSpPr>
        <p:spPr>
          <a:xfrm>
            <a:off x="732925" y="3489615"/>
            <a:ext cx="2031263" cy="4354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Event houses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4353C6-018C-B6BF-E0BE-3CBD6F4741B5}"/>
              </a:ext>
            </a:extLst>
          </p:cNvPr>
          <p:cNvSpPr/>
          <p:nvPr/>
        </p:nvSpPr>
        <p:spPr>
          <a:xfrm>
            <a:off x="732925" y="4029736"/>
            <a:ext cx="2031263" cy="730513"/>
          </a:xfrm>
          <a:prstGeom prst="rect">
            <a:avLst/>
          </a:prstGeom>
          <a:solidFill>
            <a:srgbClr val="00B0F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/>
            <a:r>
              <a:rPr lang="en-IN" dirty="0">
                <a:solidFill>
                  <a:schemeClr val="tx1"/>
                </a:solidFill>
              </a:rPr>
              <a:t>Real-Time Intelligence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6C87F15-9E3E-62AC-C77C-2A3C7AC2D966}"/>
              </a:ext>
            </a:extLst>
          </p:cNvPr>
          <p:cNvSpPr/>
          <p:nvPr/>
        </p:nvSpPr>
        <p:spPr>
          <a:xfrm>
            <a:off x="3519509" y="1328059"/>
            <a:ext cx="2316028" cy="3592285"/>
          </a:xfrm>
          <a:prstGeom prst="roundRect">
            <a:avLst>
              <a:gd name="adj" fmla="val 8724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0000" tIns="90000" rIns="90000" bIns="90000" anchor="t">
            <a:no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</a:pPr>
            <a:endParaRPr lang="en-US" sz="2000" b="1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0469F4-C3A9-B37C-5FB5-E960B633B57E}"/>
              </a:ext>
            </a:extLst>
          </p:cNvPr>
          <p:cNvSpPr txBox="1"/>
          <p:nvPr/>
        </p:nvSpPr>
        <p:spPr>
          <a:xfrm>
            <a:off x="3713222" y="2066746"/>
            <a:ext cx="192860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 sz="1600" b="1">
                <a:solidFill>
                  <a:prstClr val="black"/>
                </a:solidFill>
              </a:defRPr>
            </a:lvl1pPr>
          </a:lstStyle>
          <a:p>
            <a:pPr algn="ctr"/>
            <a:r>
              <a:rPr lang="en-US" sz="1800"/>
              <a:t>Model</a:t>
            </a:r>
            <a:endParaRPr lang="en-US" sz="1800" b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4651A60-39ED-CF96-E3A2-DE4621C7696B}"/>
              </a:ext>
            </a:extLst>
          </p:cNvPr>
          <p:cNvSpPr/>
          <p:nvPr/>
        </p:nvSpPr>
        <p:spPr>
          <a:xfrm>
            <a:off x="3661892" y="2409371"/>
            <a:ext cx="2031263" cy="4354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Ontology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718A8EA-71D9-9B38-BE9F-EA8E435FE497}"/>
              </a:ext>
            </a:extLst>
          </p:cNvPr>
          <p:cNvSpPr/>
          <p:nvPr/>
        </p:nvSpPr>
        <p:spPr>
          <a:xfrm>
            <a:off x="3661892" y="2949493"/>
            <a:ext cx="2031263" cy="4354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Graph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E1CE03B-8E44-A846-BE7D-0C2A74ECB92A}"/>
              </a:ext>
            </a:extLst>
          </p:cNvPr>
          <p:cNvSpPr/>
          <p:nvPr/>
        </p:nvSpPr>
        <p:spPr>
          <a:xfrm>
            <a:off x="3661892" y="3489615"/>
            <a:ext cx="2031263" cy="4354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Semantic Models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38" name="Graphic 37" descr="Robot with solid fill">
            <a:extLst>
              <a:ext uri="{FF2B5EF4-FFF2-40B4-BE49-F238E27FC236}">
                <a16:creationId xmlns:a16="http://schemas.microsoft.com/office/drawing/2014/main" id="{B023811A-11C2-9E10-1879-A0A23FB89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3120" y="1429658"/>
            <a:ext cx="584676" cy="584676"/>
          </a:xfrm>
          <a:prstGeom prst="rect">
            <a:avLst/>
          </a:prstGeom>
        </p:spPr>
      </p:pic>
      <p:pic>
        <p:nvPicPr>
          <p:cNvPr id="40" name="Graphic 39" descr="Pie chart with solid fill">
            <a:extLst>
              <a:ext uri="{FF2B5EF4-FFF2-40B4-BE49-F238E27FC236}">
                <a16:creationId xmlns:a16="http://schemas.microsoft.com/office/drawing/2014/main" id="{707D946D-30B2-A15C-C584-662ABA9430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4152" y="1429658"/>
            <a:ext cx="584676" cy="584676"/>
          </a:xfrm>
          <a:prstGeom prst="rect">
            <a:avLst/>
          </a:prstGeom>
        </p:spPr>
      </p:pic>
      <p:pic>
        <p:nvPicPr>
          <p:cNvPr id="42" name="Graphic 41" descr="Network with solid fill">
            <a:extLst>
              <a:ext uri="{FF2B5EF4-FFF2-40B4-BE49-F238E27FC236}">
                <a16:creationId xmlns:a16="http://schemas.microsoft.com/office/drawing/2014/main" id="{A37F8D7A-57FE-BF76-149E-8F48F6EF3B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5185" y="1429658"/>
            <a:ext cx="584676" cy="584676"/>
          </a:xfrm>
          <a:prstGeom prst="rect">
            <a:avLst/>
          </a:prstGeom>
        </p:spPr>
      </p:pic>
      <p:pic>
        <p:nvPicPr>
          <p:cNvPr id="44" name="Graphic 43" descr="Database with solid fill">
            <a:extLst>
              <a:ext uri="{FF2B5EF4-FFF2-40B4-BE49-F238E27FC236}">
                <a16:creationId xmlns:a16="http://schemas.microsoft.com/office/drawing/2014/main" id="{C720A9BF-9420-156D-D59A-FEE97FD367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6218" y="1429658"/>
            <a:ext cx="584676" cy="584676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0BFFB96-4E71-813A-D173-C2F30E724ABB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906570" y="3124201"/>
            <a:ext cx="612939" cy="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80D5E89-5440-3B83-7BF6-C5FAE77BCF27}"/>
              </a:ext>
            </a:extLst>
          </p:cNvPr>
          <p:cNvCxnSpPr>
            <a:cxnSpLocks/>
            <a:stCxn id="15" idx="3"/>
            <a:endCxn id="23" idx="1"/>
          </p:cNvCxnSpPr>
          <p:nvPr/>
        </p:nvCxnSpPr>
        <p:spPr>
          <a:xfrm>
            <a:off x="5835537" y="3124202"/>
            <a:ext cx="61293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CC29549-5426-86B7-08FB-7487164C0083}"/>
              </a:ext>
            </a:extLst>
          </p:cNvPr>
          <p:cNvCxnSpPr>
            <a:cxnSpLocks/>
            <a:stCxn id="23" idx="3"/>
            <a:endCxn id="31" idx="1"/>
          </p:cNvCxnSpPr>
          <p:nvPr/>
        </p:nvCxnSpPr>
        <p:spPr>
          <a:xfrm>
            <a:off x="8764504" y="3124202"/>
            <a:ext cx="61294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B9D82D6-51CD-A4AC-881D-A5D6D7DC1908}"/>
              </a:ext>
            </a:extLst>
          </p:cNvPr>
          <p:cNvSpPr/>
          <p:nvPr/>
        </p:nvSpPr>
        <p:spPr>
          <a:xfrm>
            <a:off x="947120" y="4180343"/>
            <a:ext cx="196605" cy="429298"/>
          </a:xfrm>
          <a:custGeom>
            <a:avLst/>
            <a:gdLst>
              <a:gd name="connsiteX0" fmla="*/ 155353 w 279177"/>
              <a:gd name="connsiteY0" fmla="*/ 285750 h 609600"/>
              <a:gd name="connsiteX1" fmla="*/ 155353 w 279177"/>
              <a:gd name="connsiteY1" fmla="*/ 0 h 609600"/>
              <a:gd name="connsiteX2" fmla="*/ 0 w 279177"/>
              <a:gd name="connsiteY2" fmla="*/ 380714 h 609600"/>
              <a:gd name="connsiteX3" fmla="*/ 136303 w 279177"/>
              <a:gd name="connsiteY3" fmla="*/ 381000 h 609600"/>
              <a:gd name="connsiteX4" fmla="*/ 136303 w 279177"/>
              <a:gd name="connsiteY4" fmla="*/ 609600 h 609600"/>
              <a:gd name="connsiteX5" fmla="*/ 279178 w 279177"/>
              <a:gd name="connsiteY5" fmla="*/ 285750 h 609600"/>
              <a:gd name="connsiteX6" fmla="*/ 155353 w 279177"/>
              <a:gd name="connsiteY6" fmla="*/ 28575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9177" h="609600">
                <a:moveTo>
                  <a:pt x="155353" y="285750"/>
                </a:moveTo>
                <a:lnTo>
                  <a:pt x="155353" y="0"/>
                </a:lnTo>
                <a:lnTo>
                  <a:pt x="0" y="380714"/>
                </a:lnTo>
                <a:lnTo>
                  <a:pt x="136303" y="381000"/>
                </a:lnTo>
                <a:lnTo>
                  <a:pt x="136303" y="609600"/>
                </a:lnTo>
                <a:lnTo>
                  <a:pt x="279178" y="285750"/>
                </a:lnTo>
                <a:lnTo>
                  <a:pt x="155353" y="285750"/>
                </a:lnTo>
                <a:close/>
              </a:path>
            </a:pathLst>
          </a:cu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D447F53-B1C9-8581-D125-04837308569B}"/>
              </a:ext>
            </a:extLst>
          </p:cNvPr>
          <p:cNvGrpSpPr/>
          <p:nvPr/>
        </p:nvGrpSpPr>
        <p:grpSpPr>
          <a:xfrm>
            <a:off x="6732146" y="4219332"/>
            <a:ext cx="352425" cy="351321"/>
            <a:chOff x="6238434" y="5266930"/>
            <a:chExt cx="439134" cy="437758"/>
          </a:xfrm>
        </p:grpSpPr>
        <p:sp>
          <p:nvSpPr>
            <p:cNvPr id="62" name="Graphic 54" descr="Stop with solid fill">
              <a:extLst>
                <a:ext uri="{FF2B5EF4-FFF2-40B4-BE49-F238E27FC236}">
                  <a16:creationId xmlns:a16="http://schemas.microsoft.com/office/drawing/2014/main" id="{47B35F47-5619-C5DA-2E92-8BE61D73AAB8}"/>
                </a:ext>
              </a:extLst>
            </p:cNvPr>
            <p:cNvSpPr/>
            <p:nvPr/>
          </p:nvSpPr>
          <p:spPr>
            <a:xfrm>
              <a:off x="6238434" y="5266930"/>
              <a:ext cx="210042" cy="210042"/>
            </a:xfrm>
            <a:custGeom>
              <a:avLst/>
              <a:gdLst>
                <a:gd name="connsiteX0" fmla="*/ 0 w 704850"/>
                <a:gd name="connsiteY0" fmla="*/ 0 h 704850"/>
                <a:gd name="connsiteX1" fmla="*/ 704850 w 704850"/>
                <a:gd name="connsiteY1" fmla="*/ 0 h 704850"/>
                <a:gd name="connsiteX2" fmla="*/ 704850 w 704850"/>
                <a:gd name="connsiteY2" fmla="*/ 704850 h 704850"/>
                <a:gd name="connsiteX3" fmla="*/ 0 w 704850"/>
                <a:gd name="connsiteY3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850" h="704850">
                  <a:moveTo>
                    <a:pt x="0" y="0"/>
                  </a:moveTo>
                  <a:lnTo>
                    <a:pt x="704850" y="0"/>
                  </a:lnTo>
                  <a:lnTo>
                    <a:pt x="704850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00B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Graphic 54" descr="Stop with solid fill">
              <a:extLst>
                <a:ext uri="{FF2B5EF4-FFF2-40B4-BE49-F238E27FC236}">
                  <a16:creationId xmlns:a16="http://schemas.microsoft.com/office/drawing/2014/main" id="{D1C05F09-ADEC-E218-E1FD-4B9356874098}"/>
                </a:ext>
              </a:extLst>
            </p:cNvPr>
            <p:cNvSpPr/>
            <p:nvPr/>
          </p:nvSpPr>
          <p:spPr>
            <a:xfrm>
              <a:off x="6467526" y="5266930"/>
              <a:ext cx="210042" cy="210042"/>
            </a:xfrm>
            <a:custGeom>
              <a:avLst/>
              <a:gdLst>
                <a:gd name="connsiteX0" fmla="*/ 0 w 704850"/>
                <a:gd name="connsiteY0" fmla="*/ 0 h 704850"/>
                <a:gd name="connsiteX1" fmla="*/ 704850 w 704850"/>
                <a:gd name="connsiteY1" fmla="*/ 0 h 704850"/>
                <a:gd name="connsiteX2" fmla="*/ 704850 w 704850"/>
                <a:gd name="connsiteY2" fmla="*/ 704850 h 704850"/>
                <a:gd name="connsiteX3" fmla="*/ 0 w 704850"/>
                <a:gd name="connsiteY3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850" h="704850">
                  <a:moveTo>
                    <a:pt x="0" y="0"/>
                  </a:moveTo>
                  <a:lnTo>
                    <a:pt x="704850" y="0"/>
                  </a:lnTo>
                  <a:lnTo>
                    <a:pt x="704850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00B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Graphic 54" descr="Stop with solid fill">
              <a:extLst>
                <a:ext uri="{FF2B5EF4-FFF2-40B4-BE49-F238E27FC236}">
                  <a16:creationId xmlns:a16="http://schemas.microsoft.com/office/drawing/2014/main" id="{F6B6A347-3BCB-09C8-EBC1-D91A8814CA7E}"/>
                </a:ext>
              </a:extLst>
            </p:cNvPr>
            <p:cNvSpPr/>
            <p:nvPr/>
          </p:nvSpPr>
          <p:spPr>
            <a:xfrm>
              <a:off x="6238434" y="5494646"/>
              <a:ext cx="210042" cy="210042"/>
            </a:xfrm>
            <a:custGeom>
              <a:avLst/>
              <a:gdLst>
                <a:gd name="connsiteX0" fmla="*/ 0 w 704850"/>
                <a:gd name="connsiteY0" fmla="*/ 0 h 704850"/>
                <a:gd name="connsiteX1" fmla="*/ 704850 w 704850"/>
                <a:gd name="connsiteY1" fmla="*/ 0 h 704850"/>
                <a:gd name="connsiteX2" fmla="*/ 704850 w 704850"/>
                <a:gd name="connsiteY2" fmla="*/ 704850 h 704850"/>
                <a:gd name="connsiteX3" fmla="*/ 0 w 704850"/>
                <a:gd name="connsiteY3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850" h="704850">
                  <a:moveTo>
                    <a:pt x="0" y="0"/>
                  </a:moveTo>
                  <a:lnTo>
                    <a:pt x="704850" y="0"/>
                  </a:lnTo>
                  <a:lnTo>
                    <a:pt x="704850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00B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Graphic 54" descr="Stop with solid fill">
              <a:extLst>
                <a:ext uri="{FF2B5EF4-FFF2-40B4-BE49-F238E27FC236}">
                  <a16:creationId xmlns:a16="http://schemas.microsoft.com/office/drawing/2014/main" id="{DD1B64C2-EA28-DAB1-A08D-C3836533B88E}"/>
                </a:ext>
              </a:extLst>
            </p:cNvPr>
            <p:cNvSpPr/>
            <p:nvPr/>
          </p:nvSpPr>
          <p:spPr>
            <a:xfrm>
              <a:off x="6467526" y="5494646"/>
              <a:ext cx="210042" cy="210042"/>
            </a:xfrm>
            <a:custGeom>
              <a:avLst/>
              <a:gdLst>
                <a:gd name="connsiteX0" fmla="*/ 0 w 704850"/>
                <a:gd name="connsiteY0" fmla="*/ 0 h 704850"/>
                <a:gd name="connsiteX1" fmla="*/ 704850 w 704850"/>
                <a:gd name="connsiteY1" fmla="*/ 0 h 704850"/>
                <a:gd name="connsiteX2" fmla="*/ 704850 w 704850"/>
                <a:gd name="connsiteY2" fmla="*/ 704850 h 704850"/>
                <a:gd name="connsiteX3" fmla="*/ 0 w 704850"/>
                <a:gd name="connsiteY3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850" h="704850">
                  <a:moveTo>
                    <a:pt x="0" y="0"/>
                  </a:moveTo>
                  <a:lnTo>
                    <a:pt x="704850" y="0"/>
                  </a:lnTo>
                  <a:lnTo>
                    <a:pt x="704850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00B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DB56DC55-40E0-C064-1C71-1086DBF46F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5280" y="4143319"/>
            <a:ext cx="728535" cy="588315"/>
          </a:xfrm>
          <a:prstGeom prst="rect">
            <a:avLst/>
          </a:prstGeom>
        </p:spPr>
      </p:pic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9A7F9EA4-CD82-229B-1365-54D7E8E748CE}"/>
              </a:ext>
            </a:extLst>
          </p:cNvPr>
          <p:cNvSpPr/>
          <p:nvPr/>
        </p:nvSpPr>
        <p:spPr>
          <a:xfrm>
            <a:off x="4975641" y="1189860"/>
            <a:ext cx="1260517" cy="270209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bg1"/>
                </a:solidFill>
              </a:rPr>
              <a:t>Fabric IQ Core</a:t>
            </a:r>
          </a:p>
        </p:txBody>
      </p:sp>
    </p:spTree>
    <p:extLst>
      <p:ext uri="{BB962C8B-B14F-4D97-AF65-F5344CB8AC3E}">
        <p14:creationId xmlns:p14="http://schemas.microsoft.com/office/powerpoint/2010/main" val="2406907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960C9E-D557-4EC4-31A9-A66B56F04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172" y="162560"/>
            <a:ext cx="5743575" cy="624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69A473-8513-B0C7-D8AB-E8FFF8DDCF7A}"/>
              </a:ext>
            </a:extLst>
          </p:cNvPr>
          <p:cNvSpPr txBox="1"/>
          <p:nvPr/>
        </p:nvSpPr>
        <p:spPr>
          <a:xfrm>
            <a:off x="213360" y="889249"/>
            <a:ext cx="5455920" cy="83099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/>
              <a:t>Data Foundation</a:t>
            </a:r>
          </a:p>
          <a:p>
            <a:pPr algn="ctr"/>
            <a:r>
              <a:rPr lang="en-US" dirty="0"/>
              <a:t>One Lake stores all raw and curated e-commerce data in the standardized Delta file format.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F3E41-3EE3-B1AF-8A32-2C092BFD07B4}"/>
              </a:ext>
            </a:extLst>
          </p:cNvPr>
          <p:cNvSpPr txBox="1"/>
          <p:nvPr/>
        </p:nvSpPr>
        <p:spPr>
          <a:xfrm>
            <a:off x="369252" y="2331969"/>
            <a:ext cx="5455920" cy="83099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/>
              <a:t>Semantic Layer</a:t>
            </a:r>
          </a:p>
          <a:p>
            <a:pPr algn="ctr"/>
            <a:r>
              <a:rPr lang="en-US" dirty="0"/>
              <a:t>Defines clear relationships between orders, customers, and products for model consistency.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03502A-4974-C398-7942-B21C494A0452}"/>
              </a:ext>
            </a:extLst>
          </p:cNvPr>
          <p:cNvSpPr txBox="1"/>
          <p:nvPr/>
        </p:nvSpPr>
        <p:spPr>
          <a:xfrm>
            <a:off x="369252" y="3784849"/>
            <a:ext cx="5455920" cy="83099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/>
              <a:t>Ontology Logic</a:t>
            </a:r>
          </a:p>
          <a:p>
            <a:pPr algn="ctr"/>
            <a:r>
              <a:rPr lang="en-US" dirty="0"/>
              <a:t>Provides AI with business context, ensuring revenue calculation excludes all returns.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781D6-BC00-70D4-5C48-9371215246F1}"/>
              </a:ext>
            </a:extLst>
          </p:cNvPr>
          <p:cNvSpPr txBox="1"/>
          <p:nvPr/>
        </p:nvSpPr>
        <p:spPr>
          <a:xfrm>
            <a:off x="369252" y="5298689"/>
            <a:ext cx="5455920" cy="83099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/>
              <a:t>Unified Security</a:t>
            </a:r>
          </a:p>
          <a:p>
            <a:pPr algn="ctr"/>
            <a:r>
              <a:rPr lang="en-US" dirty="0"/>
              <a:t>Fabric maintains strict security and access controls during all AI-powered data queries.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57786A-ACA6-032A-DB1B-B1D30E996174}"/>
              </a:ext>
            </a:extLst>
          </p:cNvPr>
          <p:cNvSpPr txBox="1"/>
          <p:nvPr/>
        </p:nvSpPr>
        <p:spPr>
          <a:xfrm>
            <a:off x="369252" y="206406"/>
            <a:ext cx="637242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3081">
              <a:spcBef>
                <a:spcPct val="0"/>
              </a:spcBef>
              <a:spcAft>
                <a:spcPts val="400"/>
              </a:spcAft>
              <a:buClr>
                <a:schemeClr val="tx1"/>
              </a:buClr>
              <a:defRPr/>
            </a:pPr>
            <a:r>
              <a:rPr lang="en-US" altLang="en-US" sz="2400" b="1" dirty="0">
                <a:solidFill>
                  <a:prstClr val="black"/>
                </a:solidFill>
              </a:rPr>
              <a:t>Architecture Layer</a:t>
            </a:r>
          </a:p>
        </p:txBody>
      </p:sp>
    </p:spTree>
    <p:extLst>
      <p:ext uri="{BB962C8B-B14F-4D97-AF65-F5344CB8AC3E}">
        <p14:creationId xmlns:p14="http://schemas.microsoft.com/office/powerpoint/2010/main" val="1150463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0F3117-F1F9-083B-44B7-56DC26D5E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760" y="1168399"/>
            <a:ext cx="7762240" cy="5232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3DAAE2-4058-2B50-AAAD-534DAC6A5E0A}"/>
              </a:ext>
            </a:extLst>
          </p:cNvPr>
          <p:cNvSpPr txBox="1">
            <a:spLocks/>
          </p:cNvSpPr>
          <p:nvPr/>
        </p:nvSpPr>
        <p:spPr>
          <a:xfrm>
            <a:off x="164287" y="235601"/>
            <a:ext cx="11274147" cy="443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Unified E-commerce Ontology &amp; Relationship Graph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D877D64-A36B-7061-255D-9D3ED5DC8E87}"/>
              </a:ext>
            </a:extLst>
          </p:cNvPr>
          <p:cNvSpPr txBox="1">
            <a:spLocks/>
          </p:cNvSpPr>
          <p:nvPr/>
        </p:nvSpPr>
        <p:spPr>
          <a:xfrm>
            <a:off x="164287" y="855980"/>
            <a:ext cx="4092752" cy="23805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Overview</a:t>
            </a:r>
          </a:p>
          <a:p>
            <a:endParaRPr lang="en-US" sz="1800" b="1" dirty="0"/>
          </a:p>
          <a:p>
            <a:r>
              <a:rPr lang="en-US" sz="1600" dirty="0"/>
              <a:t>This graph represents a connected e-commerce data model built using an ontology in Microsoft Fabric.</a:t>
            </a:r>
          </a:p>
          <a:p>
            <a:br>
              <a:rPr lang="en-US" sz="1600" dirty="0"/>
            </a:br>
            <a:r>
              <a:rPr lang="en-US" sz="1600" dirty="0"/>
              <a:t>It links key business entities such as Customers, Orders, Products, Payments, and Shipping through meaningful relationships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5191EB4-6EAE-F551-89E4-8E9ED6040DE3}"/>
              </a:ext>
            </a:extLst>
          </p:cNvPr>
          <p:cNvSpPr txBox="1">
            <a:spLocks/>
          </p:cNvSpPr>
          <p:nvPr/>
        </p:nvSpPr>
        <p:spPr>
          <a:xfrm>
            <a:off x="164286" y="3413760"/>
            <a:ext cx="4092753" cy="2971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Business Value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Enables cross-domain insights across the entire customer journey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Supports multi-step reasoning (Customer → Order → Product → Payment → Shipping)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Powers AI-driven data agents for natural language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Eliminates data silos by creating a unified, relationship-driven model</a:t>
            </a:r>
          </a:p>
        </p:txBody>
      </p:sp>
    </p:spTree>
    <p:extLst>
      <p:ext uri="{BB962C8B-B14F-4D97-AF65-F5344CB8AC3E}">
        <p14:creationId xmlns:p14="http://schemas.microsoft.com/office/powerpoint/2010/main" val="3236541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9DEA-AB70-DB2D-B9EE-8A85716E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0F2EDC-A8DD-85B8-6FFC-E24A06B4A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760" y="1168399"/>
            <a:ext cx="7762240" cy="5232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7C5A79-AFB3-C569-836D-D712C1D90AF4}"/>
              </a:ext>
            </a:extLst>
          </p:cNvPr>
          <p:cNvSpPr txBox="1">
            <a:spLocks/>
          </p:cNvSpPr>
          <p:nvPr/>
        </p:nvSpPr>
        <p:spPr>
          <a:xfrm>
            <a:off x="164287" y="235601"/>
            <a:ext cx="11274147" cy="443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Unified E-commerce Ontology &amp; Relationship Graph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213F49-5E7E-CC38-8445-C91E2FDBDF79}"/>
              </a:ext>
            </a:extLst>
          </p:cNvPr>
          <p:cNvSpPr txBox="1">
            <a:spLocks/>
          </p:cNvSpPr>
          <p:nvPr/>
        </p:nvSpPr>
        <p:spPr>
          <a:xfrm>
            <a:off x="164287" y="1375099"/>
            <a:ext cx="4092752" cy="48189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Unified e-commerce ontology connecting customers, orders, products, payments, and shipping for AI-driven insights.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 relationship-driven e-commerce model enabling intelligent, cross-domain insights through Fabric Data Agent.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Connected e-commerce data graph powering AI to answer complex business questions instantly.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End-to-end e-commerce relationships transformed into actionable insights using ontology and AI.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From data to decisions: a unified e-commerce graph enabling natural language analytics.</a:t>
            </a:r>
          </a:p>
        </p:txBody>
      </p:sp>
    </p:spTree>
    <p:extLst>
      <p:ext uri="{BB962C8B-B14F-4D97-AF65-F5344CB8AC3E}">
        <p14:creationId xmlns:p14="http://schemas.microsoft.com/office/powerpoint/2010/main" val="117124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829B1-EFB9-F8E5-A650-1D51097FA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22C819-B60B-550C-5323-72390F29D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0320" y="257453"/>
            <a:ext cx="7091680" cy="5865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85C8F5-A2A4-1CA8-5750-EBB85478C123}"/>
              </a:ext>
            </a:extLst>
          </p:cNvPr>
          <p:cNvSpPr txBox="1">
            <a:spLocks/>
          </p:cNvSpPr>
          <p:nvPr/>
        </p:nvSpPr>
        <p:spPr>
          <a:xfrm>
            <a:off x="469087" y="626562"/>
            <a:ext cx="4092752" cy="55641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AI-powered Fabric Data Agent answering complex e-commerce queries using ontology-driven relationships.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From question to insight: Fabric Data Agent delivering real-time answers across connected e-commerce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Natural language queries powered by ontology—unlocking instant insights from e-commerce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Fabric Data Agent transforming connected data into actionable business answers instantly.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Ask anything, get insights: AI agent leveraging e-commerce ontology for intelligent decision-making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366D77-4BC5-BFAA-C90C-A4509985A48C}"/>
              </a:ext>
            </a:extLst>
          </p:cNvPr>
          <p:cNvSpPr txBox="1">
            <a:spLocks/>
          </p:cNvSpPr>
          <p:nvPr/>
        </p:nvSpPr>
        <p:spPr>
          <a:xfrm>
            <a:off x="469087" y="71803"/>
            <a:ext cx="3605073" cy="443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Data Agent</a:t>
            </a:r>
          </a:p>
        </p:txBody>
      </p:sp>
    </p:spTree>
    <p:extLst>
      <p:ext uri="{BB962C8B-B14F-4D97-AF65-F5344CB8AC3E}">
        <p14:creationId xmlns:p14="http://schemas.microsoft.com/office/powerpoint/2010/main" val="121123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A34398-C211-B7A0-DFEA-44D42EC67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"/>
            <a:ext cx="12090400" cy="638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9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22F3F-049F-21B3-82F1-D9FE46109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AD4075-7660-005F-F79D-F9E76395A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00" y="203702"/>
            <a:ext cx="12090400" cy="597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39522"/>
      </p:ext>
    </p:extLst>
  </p:cSld>
  <p:clrMapOvr>
    <a:masterClrMapping/>
  </p:clrMapOvr>
</p:sld>
</file>

<file path=ppt/theme/theme1.xml><?xml version="1.0" encoding="utf-8"?>
<a:theme xmlns:a="http://schemas.openxmlformats.org/drawingml/2006/main" name="1_ILink">
  <a:themeElements>
    <a:clrScheme name="Custom 12">
      <a:dk1>
        <a:sysClr val="windowText" lastClr="000000"/>
      </a:dk1>
      <a:lt1>
        <a:sysClr val="window" lastClr="FFFFFF"/>
      </a:lt1>
      <a:dk2>
        <a:srgbClr val="191919"/>
      </a:dk2>
      <a:lt2>
        <a:srgbClr val="E7E6E6"/>
      </a:lt2>
      <a:accent1>
        <a:srgbClr val="C00000"/>
      </a:accent1>
      <a:accent2>
        <a:srgbClr val="5F8287"/>
      </a:accent2>
      <a:accent3>
        <a:srgbClr val="6F4647"/>
      </a:accent3>
      <a:accent4>
        <a:srgbClr val="FED502"/>
      </a:accent4>
      <a:accent5>
        <a:srgbClr val="ED7D31"/>
      </a:accent5>
      <a:accent6>
        <a:srgbClr val="7C7C7C"/>
      </a:accent6>
      <a:hlink>
        <a:srgbClr val="0563C1"/>
      </a:hlink>
      <a:folHlink>
        <a:srgbClr val="954F72"/>
      </a:folHlink>
    </a:clrScheme>
    <a:fontScheme name="Custom 2">
      <a:majorFont>
        <a:latin typeface="Segoe U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726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Helvetica Neue Light</vt:lpstr>
      <vt:lpstr>Segoe UI</vt:lpstr>
      <vt:lpstr>Segoe UI Historic</vt:lpstr>
      <vt:lpstr>1_ILink</vt:lpstr>
      <vt:lpstr>PowerPoint Presentation</vt:lpstr>
      <vt:lpstr>Introduction &amp; Overview </vt:lpstr>
      <vt:lpstr>Fabric IQ &amp; Ontology</vt:lpstr>
      <vt:lpstr>Key Features and Capabilities</vt:lpstr>
      <vt:lpstr>How Fabric IQ 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Mani</dc:creator>
  <cp:lastModifiedBy>Suresh Mani</cp:lastModifiedBy>
  <cp:revision>4</cp:revision>
  <dcterms:created xsi:type="dcterms:W3CDTF">2026-04-06T09:06:57Z</dcterms:created>
  <dcterms:modified xsi:type="dcterms:W3CDTF">2026-04-21T16:40:03Z</dcterms:modified>
</cp:coreProperties>
</file>